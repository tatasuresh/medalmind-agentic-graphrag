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00bb7b27-a6f0-2d5c-4c41-4e4a514fb947}">
          <p14:sldIdLst>
            <p14:sldId id="257"/>
          </p14:sldIdLst>
        </p14:section>
        <p14:section name="System" id="{c633dd19-a2ba-d654-1989-75b96911efb1}">
          <p14:sldIdLst>
            <p14:sldId id="258"/>
            <p14:sldId id="259"/>
          </p14:sldIdLst>
        </p14:section>
        <p14:section name="Results" id="{66662721-7738-adff-d730-e35e46173d9c}">
          <p14:sldIdLst>
            <p14:sldId id="260"/>
            <p14:sldId id="261"/>
            <p14:sldId id="262"/>
          </p14:sldIdLst>
        </p14:section>
        <p14:section name="Rigor" id="{53520f28-20f3-b193-b97f-c1ced8070ffc}">
          <p14:sldIdLst>
            <p14:sldId id="263"/>
          </p14:sldIdLst>
        </p14:section>
        <p14:section name="Close" id="{6c638dfa-e795-e0f9-f36b-118a73af1142}">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1827"/>
                </a:solidFill>
                <a:latin typeface="+mn-lt"/>
              </a:defRPr>
            </a:pPr>
            <a:r>
              <a:rPr sz="1300" b="0" i="0" u="none" strike="noStrike">
                <a:solidFill>
                  <a:srgbClr val="111827"/>
                </a:solidFill>
                <a:latin typeface="+mn-lt"/>
              </a:rPr>
              <a:t>Accuracy on 100 public questions (%)</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8A8A85"/>
            </a:solidFill>
            <a:effectLst/>
          </c:spPr>
          <c:invertIfNegative val="0"/>
          <c:dLbls>
            <c:numFmt formatCode="#,##0" sourceLinked="0"/>
            <c:txPr>
              <a:bodyPr/>
              <a:lstStyle/>
              <a:p>
                <a:pPr>
                  <a:defRPr b="1" i="0" strike="noStrike" sz="1400" u="none">
                    <a:solidFill>
                      <a:srgbClr val="111827"/>
                    </a:solidFill>
                    <a:latin typeface="+mn-lt"/>
                  </a:defRPr>
                </a:pPr>
              </a:p>
            </c:txPr>
            <c:showLegendKey val="0"/>
            <c:showVal val="1"/>
            <c:showCatName val="0"/>
            <c:showSerName val="0"/>
            <c:showPercent val="0"/>
            <c:showBubbleSize val="0"/>
            <c:showLeaderLines val="0"/>
          </c:dLbls>
          <c:dPt>
            <c:idx val="0"/>
            <c:invertIfNegative val="0"/>
            <c:bubble3D val="0"/>
            <c:spPr>
              <a:solidFill>
                <a:srgbClr val="8A8A85"/>
              </a:solidFill>
              <a:effectLst/>
            </c:spPr>
          </c:dPt>
          <c:dPt>
            <c:idx val="1"/>
            <c:invertIfNegative val="0"/>
            <c:bubble3D val="0"/>
            <c:spPr>
              <a:solidFill>
                <a:srgbClr val="2B6CB0"/>
              </a:solidFill>
              <a:effectLst/>
            </c:spPr>
          </c:dPt>
          <c:dPt>
            <c:idx val="2"/>
            <c:invertIfNegative val="0"/>
            <c:bubble3D val="0"/>
            <c:spPr>
              <a:solidFill>
                <a:srgbClr val="F26B21"/>
              </a:solidFill>
              <a:effectLst/>
            </c:spPr>
          </c:dPt>
          <c:cat>
            <c:multiLvlStrRef>
              <c:f>Sheet1!$A$2:$A$4</c:f>
              <c:multiLvlStrCache>
                <c:ptCount val="3"/>
                <c:lvl>
                  <c:pt idx="0">
                    <c:v>RAG</c:v>
                  </c:pt>
                  <c:pt idx="1">
                    <c:v>GraphRAG</c:v>
                  </c:pt>
                  <c:pt idx="2">
                    <c:v>Agentic GraphRAG</c:v>
                  </c:pt>
                </c:lvl>
              </c:multiLvlStrCache>
            </c:multiLvlStrRef>
          </c:cat>
          <c:val>
            <c:numRef>
              <c:f>Sheet1!$B$2:$B$4</c:f>
              <c:numCache>
                <c:formatCode>General</c:formatCode>
                <c:ptCount val="3"/>
                <c:pt idx="0">
                  <c:v>53</c:v>
                </c:pt>
                <c:pt idx="1">
                  <c:v>58</c:v>
                </c:pt>
                <c:pt idx="2">
                  <c:v>97</c:v>
                </c:pt>
              </c:numCache>
            </c:numRef>
          </c:val>
        </c:ser>
        <c:dLbls>
          <c:numFmt formatCode="#,##0" sourceLinked="0"/>
          <c:txPr>
            <a:bodyPr/>
            <a:lstStyle/>
            <a:p>
              <a:pPr>
                <a:defRPr b="1" i="0" strike="noStrike" sz="1400" u="none">
                  <a:solidFill>
                    <a:srgbClr val="11182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11827"/>
                </a:solidFill>
                <a:latin typeface="+mn-lt"/>
              </a:defRPr>
            </a:pPr>
            <a:r>
              <a:rPr sz="1300" b="0" i="0" u="none" strike="noStrike">
                <a:solidFill>
                  <a:srgbClr val="111827"/>
                </a:solidFill>
                <a:latin typeface="+mn-lt"/>
              </a:rPr>
              <a:t>Accuracy by question type (%)</a:t>
            </a:r>
          </a:p>
        </c:rich>
      </c:tx>
      <c:layout/>
      <c:overlay val="0"/>
    </c:title>
    <c:autoTitleDeleted val="0"/>
    <c:plotArea>
      <c:layout/>
      <c:barChart>
        <c:barDir val="col"/>
        <c:grouping val="clustered"/>
        <c:varyColors val="0"/>
        <c:ser>
          <c:idx val="0"/>
          <c:order val="0"/>
          <c:tx>
            <c:strRef>
              <c:f>Sheet1!$B$1</c:f>
              <c:strCache>
                <c:ptCount val="1"/>
                <c:pt idx="0">
                  <c:v>RAG</c:v>
                </c:pt>
              </c:strCache>
            </c:strRef>
          </c:tx>
          <c:spPr>
            <a:solidFill>
              <a:srgbClr val="8A8A85"/>
            </a:solidFill>
            <a:effectLst/>
          </c:spPr>
          <c:invertIfNegative val="0"/>
          <c:dLbls>
            <c:numFmt formatCode="#,##0" sourceLinked="0"/>
            <c:txPr>
              <a:bodyPr/>
              <a:lstStyle/>
              <a:p>
                <a:pPr>
                  <a:defRPr b="0" i="0" strike="noStrike" sz="900" u="none">
                    <a:solidFill>
                      <a:srgbClr val="374151"/>
                    </a:solidFill>
                    <a:latin typeface="+mn-lt"/>
                  </a:defRPr>
                </a:pPr>
              </a:p>
            </c:txPr>
            <c:showLegendKey val="0"/>
            <c:showVal val="1"/>
            <c:showCatName val="0"/>
            <c:showSerName val="0"/>
            <c:showPercent val="0"/>
            <c:showBubbleSize val="0"/>
            <c:showLeaderLines val="0"/>
          </c:dLbls>
          <c:cat>
            <c:multiLvlStrRef>
              <c:f>Sheet1!$A$2:$A$6</c:f>
              <c:multiLvlStrCache>
                <c:ptCount val="5"/>
                <c:lvl>
                  <c:pt idx="0">
                    <c:v>Aggregation</c:v>
                  </c:pt>
                  <c:pt idx="1">
                    <c:v>Superlative</c:v>
                  </c:pt>
                  <c:pt idx="2">
                    <c:v>Multi-hop</c:v>
                  </c:pt>
                  <c:pt idx="3">
                    <c:v>Temporal</c:v>
                  </c:pt>
                  <c:pt idx="4">
                    <c:v>Lookup</c:v>
                  </c:pt>
                </c:lvl>
              </c:multiLvlStrCache>
            </c:multiLvlStrRef>
          </c:cat>
          <c:val>
            <c:numRef>
              <c:f>Sheet1!$B$2:$B$6</c:f>
              <c:numCache>
                <c:formatCode>General</c:formatCode>
                <c:ptCount val="5"/>
                <c:pt idx="0">
                  <c:v>0</c:v>
                </c:pt>
                <c:pt idx="1">
                  <c:v>40</c:v>
                </c:pt>
                <c:pt idx="2">
                  <c:v>43</c:v>
                </c:pt>
                <c:pt idx="3">
                  <c:v>86</c:v>
                </c:pt>
                <c:pt idx="4">
                  <c:v>95</c:v>
                </c:pt>
              </c:numCache>
            </c:numRef>
          </c:val>
        </c:ser>
        <c:ser>
          <c:idx val="1"/>
          <c:order val="1"/>
          <c:tx>
            <c:strRef>
              <c:f>Sheet1!$C$1</c:f>
              <c:strCache>
                <c:ptCount val="1"/>
                <c:pt idx="0">
                  <c:v>GraphRAG</c:v>
                </c:pt>
              </c:strCache>
            </c:strRef>
          </c:tx>
          <c:spPr>
            <a:solidFill>
              <a:srgbClr val="2B6CB0"/>
            </a:solidFill>
            <a:effectLst/>
          </c:spPr>
          <c:invertIfNegative val="0"/>
          <c:dLbls>
            <c:numFmt formatCode="#,##0" sourceLinked="0"/>
            <c:txPr>
              <a:bodyPr/>
              <a:lstStyle/>
              <a:p>
                <a:pPr>
                  <a:defRPr b="0" i="0" strike="noStrike" sz="900" u="none">
                    <a:solidFill>
                      <a:srgbClr val="374151"/>
                    </a:solidFill>
                    <a:latin typeface="+mn-lt"/>
                  </a:defRPr>
                </a:pPr>
              </a:p>
            </c:txPr>
            <c:showLegendKey val="0"/>
            <c:showVal val="1"/>
            <c:showCatName val="0"/>
            <c:showSerName val="0"/>
            <c:showPercent val="0"/>
            <c:showBubbleSize val="0"/>
            <c:showLeaderLines val="0"/>
          </c:dLbls>
          <c:cat>
            <c:multiLvlStrRef>
              <c:f>Sheet1!$A$2:$A$6</c:f>
              <c:multiLvlStrCache>
                <c:ptCount val="5"/>
                <c:lvl>
                  <c:pt idx="0">
                    <c:v>Aggregation</c:v>
                  </c:pt>
                  <c:pt idx="1">
                    <c:v>Superlative</c:v>
                  </c:pt>
                  <c:pt idx="2">
                    <c:v>Multi-hop</c:v>
                  </c:pt>
                  <c:pt idx="3">
                    <c:v>Temporal</c:v>
                  </c:pt>
                  <c:pt idx="4">
                    <c:v>Lookup</c:v>
                  </c:pt>
                </c:lvl>
              </c:multiLvlStrCache>
            </c:multiLvlStrRef>
          </c:cat>
          <c:val>
            <c:numRef>
              <c:f>Sheet1!$C$2:$C$6</c:f>
              <c:numCache>
                <c:formatCode>General</c:formatCode>
                <c:ptCount val="5"/>
                <c:pt idx="0">
                  <c:v>29</c:v>
                </c:pt>
                <c:pt idx="1">
                  <c:v>70</c:v>
                </c:pt>
                <c:pt idx="2">
                  <c:v>25</c:v>
                </c:pt>
                <c:pt idx="3">
                  <c:v>86</c:v>
                </c:pt>
                <c:pt idx="4">
                  <c:v>100</c:v>
                </c:pt>
              </c:numCache>
            </c:numRef>
          </c:val>
        </c:ser>
        <c:ser>
          <c:idx val="2"/>
          <c:order val="2"/>
          <c:tx>
            <c:strRef>
              <c:f>Sheet1!$D$1</c:f>
              <c:strCache>
                <c:ptCount val="1"/>
                <c:pt idx="0">
                  <c:v>Agentic GraphRAG</c:v>
                </c:pt>
              </c:strCache>
            </c:strRef>
          </c:tx>
          <c:spPr>
            <a:solidFill>
              <a:srgbClr val="F26B21"/>
            </a:solidFill>
            <a:effectLst/>
          </c:spPr>
          <c:invertIfNegative val="0"/>
          <c:dLbls>
            <c:numFmt formatCode="#,##0" sourceLinked="0"/>
            <c:txPr>
              <a:bodyPr/>
              <a:lstStyle/>
              <a:p>
                <a:pPr>
                  <a:defRPr b="0" i="0" strike="noStrike" sz="900" u="none">
                    <a:solidFill>
                      <a:srgbClr val="374151"/>
                    </a:solidFill>
                    <a:latin typeface="+mn-lt"/>
                  </a:defRPr>
                </a:pPr>
              </a:p>
            </c:txPr>
            <c:showLegendKey val="0"/>
            <c:showVal val="1"/>
            <c:showCatName val="0"/>
            <c:showSerName val="0"/>
            <c:showPercent val="0"/>
            <c:showBubbleSize val="0"/>
            <c:showLeaderLines val="0"/>
          </c:dLbls>
          <c:cat>
            <c:multiLvlStrRef>
              <c:f>Sheet1!$A$2:$A$6</c:f>
              <c:multiLvlStrCache>
                <c:ptCount val="5"/>
                <c:lvl>
                  <c:pt idx="0">
                    <c:v>Aggregation</c:v>
                  </c:pt>
                  <c:pt idx="1">
                    <c:v>Superlative</c:v>
                  </c:pt>
                  <c:pt idx="2">
                    <c:v>Multi-hop</c:v>
                  </c:pt>
                  <c:pt idx="3">
                    <c:v>Temporal</c:v>
                  </c:pt>
                  <c:pt idx="4">
                    <c:v>Lookup</c:v>
                  </c:pt>
                </c:lvl>
              </c:multiLvlStrCache>
            </c:multiLvlStrRef>
          </c:cat>
          <c:val>
            <c:numRef>
              <c:f>Sheet1!$D$2:$D$6</c:f>
              <c:numCache>
                <c:formatCode>General</c:formatCode>
                <c:ptCount val="5"/>
                <c:pt idx="0">
                  <c:v>100</c:v>
                </c:pt>
                <c:pt idx="1">
                  <c:v>100</c:v>
                </c:pt>
                <c:pt idx="2">
                  <c:v>89</c:v>
                </c:pt>
                <c:pt idx="3">
                  <c:v>100</c:v>
                </c:pt>
                <c:pt idx="4">
                  <c:v>100</c:v>
                </c:pt>
              </c:numCache>
            </c:numRef>
          </c:val>
        </c:ser>
        <c:dLbls>
          <c:numFmt formatCode="#,##0" sourceLinked="0"/>
          <c:txPr>
            <a:bodyPr/>
            <a:lstStyle/>
            <a:p>
              <a:pPr>
                <a:defRPr b="0" i="0" strike="noStrike" sz="900" u="none">
                  <a:solidFill>
                    <a:srgbClr val="37415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74151"/>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37415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some questions need one lookup, some need an investigation. We built all three pipelines on TigerGraph and measured exactly where the agent earns its keep. Headline: 97% for the agent vs 53% for plain RAG on the 100 public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hackathon's headline question. Corpus is mostly Olympic event pages. Five question types let us see exactly where each approach wins or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and GraphRAG are fixed recipes. The agent decides its next action from the question and the evidence so far. All three go through one metering wrapper so token comparisons are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Typed attributes in TigerGraph make counting exact: the Aggregator pushes numeric filters into the database. The GraphTraverser follows PREV_GAMES and MEDAL edges. The agent never counts by reading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97%. RAG: 53%. GraphRAG: 58%. Token cost is within about 21% of RAG because the agent reads compact tool results (a count, a handful of rows) instead of six text chunks. LLM-as-judge accuracy with gpt-4o-mini.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per type (correct/total): aggregation RAG 0/21, GraphRAG 6/21, agent 21/21. Superlative 4/10, 7/10, 10/10. Multi-hop 12/28, 7/28, 25/28. Temporal 19/22, 19/22, 22/22. Lookup 18/19, 19/19, 19/19. Agent token cost vs RAG: aggregation 0.9x, superlative 1.3x, multi-hop 1.1x, temporal 1.5x, lookup 1.3x.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question to all three. RAG and GraphRAG each read a handful of passages and miscount. The agent chose the Aggregator and asked TigerGraph for the exact count. Second example if asked: 'men's 20 km walk at the Games before 2016' goes previous_games -&gt; 2012, then find_events with medalists, answer Chen Ding, 3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care about rigor. We tuned on public failures and say so. The router was a hypothesis that did not pay off: after the fixes the agent averages about RAG's token budget, so there was nothing left to save. Remaining misses: pub-060 and pub-099 name a venue and date shared by several events; pub-073 has a composite date the agent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takeaway: the agent is decisive for counting, ranking, multi-hop and temporal questions, and unnecessary for single lookups. Deliverables: working system, repo, architecture diagram, metrics dashboard, outputs for all 50 hidden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457200" y="502920"/>
            <a:ext cx="8229600" cy="274320"/>
          </a:xfrm>
          <a:prstGeom prst="rect">
            <a:avLst/>
          </a:prstGeom>
          <a:noFill/>
          <a:ln/>
        </p:spPr>
        <p:txBody>
          <a:bodyPr wrap="square" lIns="0" tIns="0" rIns="0" bIns="0" rtlCol="0" anchor="ctr"/>
          <a:lstStyle/>
          <a:p>
            <a:pPr indent="0" marL="0">
              <a:buNone/>
            </a:pPr>
            <a:r>
              <a:rPr lang="en-US" sz="1100" b="1" spc="200" kern="0" dirty="0">
                <a:solidFill>
                  <a:srgbClr val="F26B21"/>
                </a:solidFill>
              </a:rPr>
              <a:t>MEDALMINDAGENT  Â·  TIGERGRAPH AGENTIC GRAPHRAG HACKATHON  Â·  ROUND 1</a:t>
            </a:r>
            <a:endParaRPr lang="en-US" sz="1100" dirty="0"/>
          </a:p>
        </p:txBody>
      </p:sp>
      <p:sp>
        <p:nvSpPr>
          <p:cNvPr id="3" name="title text"/>
          <p:cNvSpPr txBox="1"/>
          <p:nvPr/>
        </p:nvSpPr>
        <p:spPr>
          <a:xfrm>
            <a:off x="457200" y="1051560"/>
            <a:ext cx="5120640" cy="17373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When does an agent actually pay off?</a:t>
            </a:r>
            <a:endParaRPr lang="en-US" sz="4000" dirty="0"/>
          </a:p>
        </p:txBody>
      </p:sp>
      <p:sp>
        <p:nvSpPr>
          <p:cNvPr id="4" name="subtitle"/>
          <p:cNvSpPr txBox="1"/>
          <p:nvPr/>
        </p:nvSpPr>
        <p:spPr>
          <a:xfrm>
            <a:off x="457200" y="2651760"/>
            <a:ext cx="4937760" cy="731520"/>
          </a:xfrm>
          <a:prstGeom prst="rect">
            <a:avLst/>
          </a:prstGeom>
          <a:noFill/>
          <a:ln/>
        </p:spPr>
        <p:txBody>
          <a:bodyPr wrap="square" lIns="0" tIns="0" rIns="0" bIns="0" rtlCol="0" anchor="ctr"/>
          <a:lstStyle/>
          <a:p>
            <a:pPr indent="0" marL="0">
              <a:buNone/>
            </a:pPr>
            <a:r>
              <a:rPr lang="en-US" sz="1600" dirty="0">
                <a:solidFill>
                  <a:srgbClr val="D1D5DB"/>
                </a:solidFill>
              </a:rPr>
              <a:t>RAG answers. GraphRAG connects. MedalMindAgent investigates.</a:t>
            </a:r>
            <a:endParaRPr lang="en-US" sz="1600" dirty="0"/>
          </a:p>
        </p:txBody>
      </p:sp>
      <p:sp>
        <p:nvSpPr>
          <p:cNvPr id="5" name="author"/>
          <p:cNvSpPr txBox="1"/>
          <p:nvPr/>
        </p:nvSpPr>
        <p:spPr>
          <a:xfrm>
            <a:off x="457200" y="4434840"/>
            <a:ext cx="4572000" cy="274320"/>
          </a:xfrm>
          <a:prstGeom prst="rect">
            <a:avLst/>
          </a:prstGeom>
          <a:noFill/>
          <a:ln/>
        </p:spPr>
        <p:txBody>
          <a:bodyPr wrap="square" lIns="0" tIns="0" rIns="0" bIns="0" rtlCol="0" anchor="ctr"/>
          <a:lstStyle/>
          <a:p>
            <a:pPr indent="0" marL="0">
              <a:buNone/>
            </a:pPr>
            <a:r>
              <a:rPr lang="en-US" sz="1200" dirty="0">
                <a:solidFill>
                  <a:srgbClr val="9CA3AF"/>
                </a:solidFill>
              </a:rPr>
              <a:t>Suresh Kumar Tata</a:t>
            </a:r>
            <a:endParaRPr lang="en-US" sz="1200" dirty="0"/>
          </a:p>
        </p:txBody>
      </p:sp>
      <p:sp>
        <p:nvSpPr>
          <p:cNvPr id="6" name="legend dot"/>
          <p:cNvSpPr/>
          <p:nvPr/>
        </p:nvSpPr>
        <p:spPr>
          <a:xfrm>
            <a:off x="5989320" y="1024128"/>
            <a:ext cx="182880" cy="182880"/>
          </a:xfrm>
          <a:prstGeom prst="ellipse">
            <a:avLst/>
          </a:prstGeom>
          <a:solidFill>
            <a:srgbClr val="F26B21"/>
          </a:solidFill>
          <a:ln w="12700">
            <a:solidFill>
              <a:srgbClr val="F26B21"/>
            </a:solidFill>
            <a:prstDash val="solid"/>
          </a:ln>
        </p:spPr>
      </p:sp>
      <p:sp>
        <p:nvSpPr>
          <p:cNvPr id="7" name="stat Agentic GraphRAG"/>
          <p:cNvSpPr txBox="1"/>
          <p:nvPr/>
        </p:nvSpPr>
        <p:spPr>
          <a:xfrm>
            <a:off x="6263640" y="822960"/>
            <a:ext cx="2468880" cy="914400"/>
          </a:xfrm>
          <a:prstGeom prst="rect">
            <a:avLst/>
          </a:prstGeom>
          <a:noFill/>
          <a:ln/>
        </p:spPr>
        <p:txBody>
          <a:bodyPr wrap="square" lIns="0" tIns="0" rIns="0" bIns="0" rtlCol="0" anchor="ctr"/>
          <a:lstStyle/>
          <a:p>
            <a:pPr indent="0" marL="0">
              <a:buNone/>
            </a:pPr>
            <a:r>
              <a:rPr lang="en-US" sz="6600" b="1" dirty="0">
                <a:solidFill>
                  <a:srgbClr val="F26B21"/>
                </a:solidFill>
                <a:latin typeface="Cambria" pitchFamily="34" charset="0"/>
                <a:ea typeface="Cambria" pitchFamily="34" charset="-122"/>
                <a:cs typeface="Cambria" pitchFamily="34" charset="-120"/>
              </a:rPr>
              <a:t>97%</a:t>
            </a:r>
            <a:endParaRPr lang="en-US" sz="6600" dirty="0"/>
          </a:p>
        </p:txBody>
      </p:sp>
      <p:sp>
        <p:nvSpPr>
          <p:cNvPr id="8" name="label Agentic GraphRAG"/>
          <p:cNvSpPr txBox="1"/>
          <p:nvPr/>
        </p:nvSpPr>
        <p:spPr>
          <a:xfrm>
            <a:off x="6263640" y="1691640"/>
            <a:ext cx="2468880" cy="274320"/>
          </a:xfrm>
          <a:prstGeom prst="rect">
            <a:avLst/>
          </a:prstGeom>
          <a:noFill/>
          <a:ln/>
        </p:spPr>
        <p:txBody>
          <a:bodyPr wrap="square" lIns="0" tIns="0" rIns="0" bIns="0" rtlCol="0" anchor="ctr"/>
          <a:lstStyle/>
          <a:p>
            <a:pPr indent="0" marL="0">
              <a:buNone/>
            </a:pPr>
            <a:r>
              <a:rPr lang="en-US" sz="1400" dirty="0">
                <a:solidFill>
                  <a:srgbClr val="D1D5DB"/>
                </a:solidFill>
              </a:rPr>
              <a:t>Agentic GraphRAG</a:t>
            </a:r>
            <a:endParaRPr lang="en-US" sz="1400" dirty="0"/>
          </a:p>
        </p:txBody>
      </p:sp>
      <p:sp>
        <p:nvSpPr>
          <p:cNvPr id="9" name="legend dot"/>
          <p:cNvSpPr/>
          <p:nvPr/>
        </p:nvSpPr>
        <p:spPr>
          <a:xfrm>
            <a:off x="5989320" y="2258568"/>
            <a:ext cx="182880" cy="182880"/>
          </a:xfrm>
          <a:prstGeom prst="ellipse">
            <a:avLst/>
          </a:prstGeom>
          <a:solidFill>
            <a:srgbClr val="2B6CB0"/>
          </a:solidFill>
          <a:ln w="12700">
            <a:solidFill>
              <a:srgbClr val="2B6CB0"/>
            </a:solidFill>
            <a:prstDash val="solid"/>
          </a:ln>
        </p:spPr>
      </p:sp>
      <p:sp>
        <p:nvSpPr>
          <p:cNvPr id="10" name="stat GraphRAG"/>
          <p:cNvSpPr txBox="1"/>
          <p:nvPr/>
        </p:nvSpPr>
        <p:spPr>
          <a:xfrm>
            <a:off x="6263640" y="2057400"/>
            <a:ext cx="2468880" cy="594360"/>
          </a:xfrm>
          <a:prstGeom prst="rect">
            <a:avLst/>
          </a:prstGeom>
          <a:noFill/>
          <a:ln/>
        </p:spPr>
        <p:txBody>
          <a:bodyPr wrap="square" lIns="0" tIns="0" rIns="0" bIns="0" rtlCol="0" anchor="ctr"/>
          <a:lstStyle/>
          <a:p>
            <a:pPr indent="0" marL="0">
              <a:buNone/>
            </a:pPr>
            <a:r>
              <a:rPr lang="en-US" sz="4000" b="1" dirty="0">
                <a:solidFill>
                  <a:srgbClr val="2B6CB0"/>
                </a:solidFill>
                <a:latin typeface="Cambria" pitchFamily="34" charset="0"/>
                <a:ea typeface="Cambria" pitchFamily="34" charset="-122"/>
                <a:cs typeface="Cambria" pitchFamily="34" charset="-120"/>
              </a:rPr>
              <a:t>58%</a:t>
            </a:r>
            <a:endParaRPr lang="en-US" sz="4000" dirty="0"/>
          </a:p>
        </p:txBody>
      </p:sp>
      <p:sp>
        <p:nvSpPr>
          <p:cNvPr id="11" name="label GraphRAG"/>
          <p:cNvSpPr txBox="1"/>
          <p:nvPr/>
        </p:nvSpPr>
        <p:spPr>
          <a:xfrm>
            <a:off x="6263640" y="2651760"/>
            <a:ext cx="2468880" cy="274320"/>
          </a:xfrm>
          <a:prstGeom prst="rect">
            <a:avLst/>
          </a:prstGeom>
          <a:noFill/>
          <a:ln/>
        </p:spPr>
        <p:txBody>
          <a:bodyPr wrap="square" lIns="0" tIns="0" rIns="0" bIns="0" rtlCol="0" anchor="ctr"/>
          <a:lstStyle/>
          <a:p>
            <a:pPr indent="0" marL="0">
              <a:buNone/>
            </a:pPr>
            <a:r>
              <a:rPr lang="en-US" sz="1400" dirty="0">
                <a:solidFill>
                  <a:srgbClr val="D1D5DB"/>
                </a:solidFill>
              </a:rPr>
              <a:t>GraphRAG</a:t>
            </a:r>
            <a:endParaRPr lang="en-US" sz="1400" dirty="0"/>
          </a:p>
        </p:txBody>
      </p:sp>
      <p:sp>
        <p:nvSpPr>
          <p:cNvPr id="12" name="legend dot"/>
          <p:cNvSpPr/>
          <p:nvPr/>
        </p:nvSpPr>
        <p:spPr>
          <a:xfrm>
            <a:off x="5989320" y="3172968"/>
            <a:ext cx="182880" cy="182880"/>
          </a:xfrm>
          <a:prstGeom prst="ellipse">
            <a:avLst/>
          </a:prstGeom>
          <a:solidFill>
            <a:srgbClr val="8A8A85"/>
          </a:solidFill>
          <a:ln w="12700">
            <a:solidFill>
              <a:srgbClr val="8A8A85"/>
            </a:solidFill>
            <a:prstDash val="solid"/>
          </a:ln>
        </p:spPr>
      </p:sp>
      <p:sp>
        <p:nvSpPr>
          <p:cNvPr id="13" name="stat RAG"/>
          <p:cNvSpPr txBox="1"/>
          <p:nvPr/>
        </p:nvSpPr>
        <p:spPr>
          <a:xfrm>
            <a:off x="6263640" y="2971800"/>
            <a:ext cx="2468880" cy="594360"/>
          </a:xfrm>
          <a:prstGeom prst="rect">
            <a:avLst/>
          </a:prstGeom>
          <a:noFill/>
          <a:ln/>
        </p:spPr>
        <p:txBody>
          <a:bodyPr wrap="square" lIns="0" tIns="0" rIns="0" bIns="0" rtlCol="0" anchor="ctr"/>
          <a:lstStyle/>
          <a:p>
            <a:pPr indent="0" marL="0">
              <a:buNone/>
            </a:pPr>
            <a:r>
              <a:rPr lang="en-US" sz="4000" b="1" dirty="0">
                <a:solidFill>
                  <a:srgbClr val="8A8A85"/>
                </a:solidFill>
                <a:latin typeface="Cambria" pitchFamily="34" charset="0"/>
                <a:ea typeface="Cambria" pitchFamily="34" charset="-122"/>
                <a:cs typeface="Cambria" pitchFamily="34" charset="-120"/>
              </a:rPr>
              <a:t>53%</a:t>
            </a:r>
            <a:endParaRPr lang="en-US" sz="4000" dirty="0"/>
          </a:p>
        </p:txBody>
      </p:sp>
      <p:sp>
        <p:nvSpPr>
          <p:cNvPr id="14" name="label RAG"/>
          <p:cNvSpPr txBox="1"/>
          <p:nvPr/>
        </p:nvSpPr>
        <p:spPr>
          <a:xfrm>
            <a:off x="6263640" y="3566160"/>
            <a:ext cx="2468880" cy="274320"/>
          </a:xfrm>
          <a:prstGeom prst="rect">
            <a:avLst/>
          </a:prstGeom>
          <a:noFill/>
          <a:ln/>
        </p:spPr>
        <p:txBody>
          <a:bodyPr wrap="square" lIns="0" tIns="0" rIns="0" bIns="0" rtlCol="0" anchor="ctr"/>
          <a:lstStyle/>
          <a:p>
            <a:pPr indent="0" marL="0">
              <a:buNone/>
            </a:pPr>
            <a:r>
              <a:rPr lang="en-US" sz="1400" dirty="0">
                <a:solidFill>
                  <a:srgbClr val="D1D5DB"/>
                </a:solidFill>
              </a:rPr>
              <a:t>RAG</a:t>
            </a:r>
            <a:endParaRPr lang="en-US" sz="1400" dirty="0"/>
          </a:p>
        </p:txBody>
      </p:sp>
      <p:sp>
        <p:nvSpPr>
          <p:cNvPr id="15" name="stat caption"/>
          <p:cNvSpPr txBox="1"/>
          <p:nvPr/>
        </p:nvSpPr>
        <p:spPr>
          <a:xfrm>
            <a:off x="5989320" y="4023360"/>
            <a:ext cx="2743200" cy="274320"/>
          </a:xfrm>
          <a:prstGeom prst="rect">
            <a:avLst/>
          </a:prstGeom>
          <a:noFill/>
          <a:ln/>
        </p:spPr>
        <p:txBody>
          <a:bodyPr wrap="square" lIns="0" tIns="0" rIns="0" bIns="0" rtlCol="0" anchor="ctr"/>
          <a:lstStyle/>
          <a:p>
            <a:pPr indent="0" marL="0">
              <a:buNone/>
            </a:pPr>
            <a:r>
              <a:rPr lang="en-US" sz="1100" dirty="0">
                <a:solidFill>
                  <a:srgbClr val="9CA3AF"/>
                </a:solidFill>
              </a:rPr>
              <a:t>accuracy on 100 public questions</a:t>
            </a:r>
            <a:endParaRPr lang="en-US" sz="1100" dirty="0"/>
          </a:p>
        </p:txBody>
      </p:sp>
      <p:sp>
        <p:nvSpPr>
          <p:cNvPr id="17"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Does your RAG need an agent?</a:t>
            </a:r>
            <a:endParaRPr lang="en-US" sz="3000" dirty="0"/>
          </a:p>
        </p:txBody>
      </p:sp>
      <p:sp>
        <p:nvSpPr>
          <p:cNvPr id="3" name="card RAG"/>
          <p:cNvSpPr/>
          <p:nvPr/>
        </p:nvSpPr>
        <p:spPr>
          <a:xfrm>
            <a:off x="457200" y="1234440"/>
            <a:ext cx="2606040" cy="2011680"/>
          </a:xfrm>
          <a:prstGeom prst="rect">
            <a:avLst/>
          </a:prstGeom>
          <a:solidFill>
            <a:srgbClr val="F3F4F6"/>
          </a:solidFill>
          <a:ln w="12700">
            <a:solidFill>
              <a:srgbClr val="F3F4F6"/>
            </a:solidFill>
            <a:prstDash val="solid"/>
          </a:ln>
          <a:effectLst>
            <a:outerShdw sx="100000" sy="100000" kx="0" ky="0" algn="bl" rotWithShape="0" blurRad="76200" dist="25400" dir="5400000">
              <a:srgbClr val="000000">
                <a:alpha val="12000"/>
              </a:srgbClr>
            </a:outerShdw>
          </a:effectLst>
        </p:spPr>
      </p:sp>
      <p:sp>
        <p:nvSpPr>
          <p:cNvPr id="4" name="badge RAG"/>
          <p:cNvSpPr/>
          <p:nvPr/>
        </p:nvSpPr>
        <p:spPr>
          <a:xfrm>
            <a:off x="685800" y="1463040"/>
            <a:ext cx="457200" cy="457200"/>
          </a:xfrm>
          <a:prstGeom prst="ellipse">
            <a:avLst/>
          </a:prstGeom>
          <a:solidFill>
            <a:srgbClr val="8A8A85"/>
          </a:solidFill>
          <a:ln w="12700">
            <a:solidFill>
              <a:srgbClr val="8A8A85"/>
            </a:solidFill>
            <a:prstDash val="solid"/>
          </a:ln>
        </p:spPr>
      </p:sp>
      <p:sp>
        <p:nvSpPr>
          <p:cNvPr id="5" name="badge num RAG"/>
          <p:cNvSpPr txBox="1"/>
          <p:nvPr/>
        </p:nvSpPr>
        <p:spPr>
          <a:xfrm>
            <a:off x="68580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card title RAG"/>
          <p:cNvSpPr txBox="1"/>
          <p:nvPr/>
        </p:nvSpPr>
        <p:spPr>
          <a:xfrm>
            <a:off x="685800" y="2011680"/>
            <a:ext cx="2194560" cy="365760"/>
          </a:xfrm>
          <a:prstGeom prst="rect">
            <a:avLst/>
          </a:prstGeom>
          <a:noFill/>
          <a:ln/>
        </p:spPr>
        <p:txBody>
          <a:bodyPr wrap="square" lIns="0" tIns="0" rIns="0" bIns="0" rtlCol="0" anchor="ctr"/>
          <a:lstStyle/>
          <a:p>
            <a:pPr indent="0" marL="0">
              <a:buNone/>
            </a:pPr>
            <a:r>
              <a:rPr lang="en-US" sz="1800" b="1" dirty="0">
                <a:solidFill>
                  <a:srgbClr val="111827"/>
                </a:solidFill>
                <a:latin typeface="Cambria" pitchFamily="34" charset="0"/>
                <a:ea typeface="Cambria" pitchFamily="34" charset="-122"/>
                <a:cs typeface="Cambria" pitchFamily="34" charset="-120"/>
              </a:rPr>
              <a:t>RAG</a:t>
            </a:r>
            <a:endParaRPr lang="en-US" sz="1800" dirty="0"/>
          </a:p>
        </p:txBody>
      </p:sp>
      <p:sp>
        <p:nvSpPr>
          <p:cNvPr id="7" name="card body RAG"/>
          <p:cNvSpPr txBox="1"/>
          <p:nvPr/>
        </p:nvSpPr>
        <p:spPr>
          <a:xfrm>
            <a:off x="685800" y="2423160"/>
            <a:ext cx="2194560" cy="731520"/>
          </a:xfrm>
          <a:prstGeom prst="rect">
            <a:avLst/>
          </a:prstGeom>
          <a:noFill/>
          <a:ln/>
        </p:spPr>
        <p:txBody>
          <a:bodyPr wrap="square" lIns="0" tIns="0" rIns="0" bIns="0" rtlCol="0" anchor="t"/>
          <a:lstStyle/>
          <a:p>
            <a:pPr indent="0" marL="0">
              <a:buNone/>
            </a:pPr>
            <a:r>
              <a:rPr lang="en-US" sz="1400" dirty="0">
                <a:solidFill>
                  <a:srgbClr val="374151"/>
                </a:solidFill>
              </a:rPr>
              <a:t>Retrieves similar text. One lookup, one answer.</a:t>
            </a:r>
            <a:endParaRPr lang="en-US" sz="1400" dirty="0"/>
          </a:p>
        </p:txBody>
      </p:sp>
      <p:sp>
        <p:nvSpPr>
          <p:cNvPr id="8" name="card GraphRAG"/>
          <p:cNvSpPr/>
          <p:nvPr/>
        </p:nvSpPr>
        <p:spPr>
          <a:xfrm>
            <a:off x="3246120" y="1234440"/>
            <a:ext cx="2606040" cy="2011680"/>
          </a:xfrm>
          <a:prstGeom prst="rect">
            <a:avLst/>
          </a:prstGeom>
          <a:solidFill>
            <a:srgbClr val="F3F4F6"/>
          </a:solidFill>
          <a:ln w="12700">
            <a:solidFill>
              <a:srgbClr val="F3F4F6"/>
            </a:solidFill>
            <a:prstDash val="solid"/>
          </a:ln>
          <a:effectLst>
            <a:outerShdw sx="100000" sy="100000" kx="0" ky="0" algn="bl" rotWithShape="0" blurRad="76200" dist="25400" dir="5400000">
              <a:srgbClr val="000000">
                <a:alpha val="12000"/>
              </a:srgbClr>
            </a:outerShdw>
          </a:effectLst>
        </p:spPr>
      </p:sp>
      <p:sp>
        <p:nvSpPr>
          <p:cNvPr id="9" name="badge GraphRAG"/>
          <p:cNvSpPr/>
          <p:nvPr/>
        </p:nvSpPr>
        <p:spPr>
          <a:xfrm>
            <a:off x="3474720" y="1463040"/>
            <a:ext cx="457200" cy="457200"/>
          </a:xfrm>
          <a:prstGeom prst="ellipse">
            <a:avLst/>
          </a:prstGeom>
          <a:solidFill>
            <a:srgbClr val="2B6CB0"/>
          </a:solidFill>
          <a:ln w="12700">
            <a:solidFill>
              <a:srgbClr val="2B6CB0"/>
            </a:solidFill>
            <a:prstDash val="solid"/>
          </a:ln>
        </p:spPr>
      </p:sp>
      <p:sp>
        <p:nvSpPr>
          <p:cNvPr id="10" name="badge num GraphRAG"/>
          <p:cNvSpPr txBox="1"/>
          <p:nvPr/>
        </p:nvSpPr>
        <p:spPr>
          <a:xfrm>
            <a:off x="347472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card title GraphRAG"/>
          <p:cNvSpPr txBox="1"/>
          <p:nvPr/>
        </p:nvSpPr>
        <p:spPr>
          <a:xfrm>
            <a:off x="3474720" y="2011680"/>
            <a:ext cx="2194560" cy="365760"/>
          </a:xfrm>
          <a:prstGeom prst="rect">
            <a:avLst/>
          </a:prstGeom>
          <a:noFill/>
          <a:ln/>
        </p:spPr>
        <p:txBody>
          <a:bodyPr wrap="square" lIns="0" tIns="0" rIns="0" bIns="0" rtlCol="0" anchor="ctr"/>
          <a:lstStyle/>
          <a:p>
            <a:pPr indent="0" marL="0">
              <a:buNone/>
            </a:pPr>
            <a:r>
              <a:rPr lang="en-US" sz="1800" b="1" dirty="0">
                <a:solidFill>
                  <a:srgbClr val="111827"/>
                </a:solidFill>
                <a:latin typeface="Cambria" pitchFamily="34" charset="0"/>
                <a:ea typeface="Cambria" pitchFamily="34" charset="-122"/>
                <a:cs typeface="Cambria" pitchFamily="34" charset="-120"/>
              </a:rPr>
              <a:t>GraphRAG</a:t>
            </a:r>
            <a:endParaRPr lang="en-US" sz="1800" dirty="0"/>
          </a:p>
        </p:txBody>
      </p:sp>
      <p:sp>
        <p:nvSpPr>
          <p:cNvPr id="12" name="card body GraphRAG"/>
          <p:cNvSpPr txBox="1"/>
          <p:nvPr/>
        </p:nvSpPr>
        <p:spPr>
          <a:xfrm>
            <a:off x="3474720" y="2423160"/>
            <a:ext cx="2194560" cy="731520"/>
          </a:xfrm>
          <a:prstGeom prst="rect">
            <a:avLst/>
          </a:prstGeom>
          <a:noFill/>
          <a:ln/>
        </p:spPr>
        <p:txBody>
          <a:bodyPr wrap="square" lIns="0" tIns="0" rIns="0" bIns="0" rtlCol="0" anchor="t"/>
          <a:lstStyle/>
          <a:p>
            <a:pPr indent="0" marL="0">
              <a:buNone/>
            </a:pPr>
            <a:r>
              <a:rPr lang="en-US" sz="1400" dirty="0">
                <a:solidFill>
                  <a:srgbClr val="374151"/>
                </a:solidFill>
              </a:rPr>
              <a:t>Adds structure: entities, relationships, multi-hop context.</a:t>
            </a:r>
            <a:endParaRPr lang="en-US" sz="1400" dirty="0"/>
          </a:p>
        </p:txBody>
      </p:sp>
      <p:sp>
        <p:nvSpPr>
          <p:cNvPr id="13" name="card Agentic GraphRAG"/>
          <p:cNvSpPr/>
          <p:nvPr/>
        </p:nvSpPr>
        <p:spPr>
          <a:xfrm>
            <a:off x="6035040" y="1234440"/>
            <a:ext cx="2606040" cy="2011680"/>
          </a:xfrm>
          <a:prstGeom prst="rect">
            <a:avLst/>
          </a:prstGeom>
          <a:solidFill>
            <a:srgbClr val="F3F4F6"/>
          </a:solidFill>
          <a:ln w="12700">
            <a:solidFill>
              <a:srgbClr val="F3F4F6"/>
            </a:solidFill>
            <a:prstDash val="solid"/>
          </a:ln>
          <a:effectLst>
            <a:outerShdw sx="100000" sy="100000" kx="0" ky="0" algn="bl" rotWithShape="0" blurRad="76200" dist="25400" dir="5400000">
              <a:srgbClr val="000000">
                <a:alpha val="12000"/>
              </a:srgbClr>
            </a:outerShdw>
          </a:effectLst>
        </p:spPr>
      </p:sp>
      <p:sp>
        <p:nvSpPr>
          <p:cNvPr id="14" name="badge Agentic GraphRAG"/>
          <p:cNvSpPr/>
          <p:nvPr/>
        </p:nvSpPr>
        <p:spPr>
          <a:xfrm>
            <a:off x="6263640" y="1463040"/>
            <a:ext cx="457200" cy="457200"/>
          </a:xfrm>
          <a:prstGeom prst="ellipse">
            <a:avLst/>
          </a:prstGeom>
          <a:solidFill>
            <a:srgbClr val="F26B21"/>
          </a:solidFill>
          <a:ln w="12700">
            <a:solidFill>
              <a:srgbClr val="F26B21"/>
            </a:solidFill>
            <a:prstDash val="solid"/>
          </a:ln>
        </p:spPr>
      </p:sp>
      <p:sp>
        <p:nvSpPr>
          <p:cNvPr id="15" name="badge num Agentic GraphRAG"/>
          <p:cNvSpPr txBox="1"/>
          <p:nvPr/>
        </p:nvSpPr>
        <p:spPr>
          <a:xfrm>
            <a:off x="626364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card title Agentic GraphRAG"/>
          <p:cNvSpPr txBox="1"/>
          <p:nvPr/>
        </p:nvSpPr>
        <p:spPr>
          <a:xfrm>
            <a:off x="6263640" y="2011680"/>
            <a:ext cx="2194560" cy="365760"/>
          </a:xfrm>
          <a:prstGeom prst="rect">
            <a:avLst/>
          </a:prstGeom>
          <a:noFill/>
          <a:ln/>
        </p:spPr>
        <p:txBody>
          <a:bodyPr wrap="square" lIns="0" tIns="0" rIns="0" bIns="0" rtlCol="0" anchor="ctr"/>
          <a:lstStyle/>
          <a:p>
            <a:pPr indent="0" marL="0">
              <a:buNone/>
            </a:pPr>
            <a:r>
              <a:rPr lang="en-US" sz="1800" b="1" dirty="0">
                <a:solidFill>
                  <a:srgbClr val="111827"/>
                </a:solidFill>
                <a:latin typeface="Cambria" pitchFamily="34" charset="0"/>
                <a:ea typeface="Cambria" pitchFamily="34" charset="-122"/>
                <a:cs typeface="Cambria" pitchFamily="34" charset="-120"/>
              </a:rPr>
              <a:t>Agentic GraphRAG</a:t>
            </a:r>
            <a:endParaRPr lang="en-US" sz="1800" dirty="0"/>
          </a:p>
        </p:txBody>
      </p:sp>
      <p:sp>
        <p:nvSpPr>
          <p:cNvPr id="17" name="card body Agentic GraphRAG"/>
          <p:cNvSpPr txBox="1"/>
          <p:nvPr/>
        </p:nvSpPr>
        <p:spPr>
          <a:xfrm>
            <a:off x="6263640" y="2423160"/>
            <a:ext cx="2194560" cy="731520"/>
          </a:xfrm>
          <a:prstGeom prst="rect">
            <a:avLst/>
          </a:prstGeom>
          <a:noFill/>
          <a:ln/>
        </p:spPr>
        <p:txBody>
          <a:bodyPr wrap="square" lIns="0" tIns="0" rIns="0" bIns="0" rtlCol="0" anchor="t"/>
          <a:lstStyle/>
          <a:p>
            <a:pPr indent="0" marL="0">
              <a:buNone/>
            </a:pPr>
            <a:r>
              <a:rPr lang="en-US" sz="1400" dirty="0">
                <a:solidFill>
                  <a:srgbClr val="374151"/>
                </a:solidFill>
              </a:rPr>
              <a:t>Adds planning: it picks its own retrieval path from what it finds.</a:t>
            </a:r>
            <a:endParaRPr lang="en-US" sz="1400" dirty="0"/>
          </a:p>
        </p:txBody>
      </p:sp>
      <p:sp>
        <p:nvSpPr>
          <p:cNvPr id="18" name="goal band"/>
          <p:cNvSpPr/>
          <p:nvPr/>
        </p:nvSpPr>
        <p:spPr>
          <a:xfrm>
            <a:off x="457200" y="3520440"/>
            <a:ext cx="8229600" cy="914400"/>
          </a:xfrm>
          <a:prstGeom prst="rect">
            <a:avLst/>
          </a:prstGeom>
          <a:solidFill>
            <a:srgbClr val="111827"/>
          </a:solidFill>
          <a:ln w="12700">
            <a:solidFill>
              <a:srgbClr val="111827"/>
            </a:solidFill>
            <a:prstDash val="solid"/>
          </a:ln>
        </p:spPr>
      </p:sp>
      <p:sp>
        <p:nvSpPr>
          <p:cNvPr id="19" name="goal text"/>
          <p:cNvSpPr txBox="1"/>
          <p:nvPr/>
        </p:nvSpPr>
        <p:spPr>
          <a:xfrm>
            <a:off x="731520" y="3566160"/>
            <a:ext cx="76809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Which questions need an agent, and which don't?</a:t>
            </a:r>
            <a:endParaRPr lang="en-US" sz="2000" dirty="0"/>
          </a:p>
        </p:txBody>
      </p:sp>
      <p:sp>
        <p:nvSpPr>
          <p:cNvPr id="20" name="goal detail"/>
          <p:cNvSpPr txBox="1"/>
          <p:nvPr/>
        </p:nvSpPr>
        <p:spPr>
          <a:xfrm>
            <a:off x="731520" y="4023360"/>
            <a:ext cx="7680960" cy="320040"/>
          </a:xfrm>
          <a:prstGeom prst="rect">
            <a:avLst/>
          </a:prstGeom>
          <a:noFill/>
          <a:ln/>
        </p:spPr>
        <p:txBody>
          <a:bodyPr wrap="square" lIns="0" tIns="0" rIns="0" bIns="0" rtlCol="0" anchor="ctr"/>
          <a:lstStyle/>
          <a:p>
            <a:pPr indent="0" marL="0">
              <a:buNone/>
            </a:pPr>
            <a:r>
              <a:rPr lang="en-US" sz="1200" dirty="0">
                <a:solidFill>
                  <a:srgbClr val="D1D5DB"/>
                </a:solidFill>
              </a:rPr>
              <a:t>2,951 Wikipedia documents Â· 100 public + 50 hidden questions Â· lookup, multi-hop, aggregation, superlative, temporal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Three pipelines, one benchmark</a:t>
            </a:r>
            <a:endParaRPr lang="en-US" sz="3000" dirty="0"/>
          </a:p>
        </p:txBody>
      </p:sp>
      <p:sp>
        <p:nvSpPr>
          <p:cNvPr id="3" name="lane RAG"/>
          <p:cNvSpPr/>
          <p:nvPr/>
        </p:nvSpPr>
        <p:spPr>
          <a:xfrm>
            <a:off x="457200" y="1234440"/>
            <a:ext cx="8229600" cy="822960"/>
          </a:xfrm>
          <a:prstGeom prst="rect">
            <a:avLst/>
          </a:prstGeom>
          <a:solidFill>
            <a:srgbClr val="F3F4F6"/>
          </a:solidFill>
          <a:ln w="12700">
            <a:solidFill>
              <a:srgbClr val="F3F4F6"/>
            </a:solidFill>
            <a:prstDash val="solid"/>
          </a:ln>
        </p:spPr>
      </p:sp>
      <p:sp>
        <p:nvSpPr>
          <p:cNvPr id="4" name="lane label bg RAG"/>
          <p:cNvSpPr/>
          <p:nvPr/>
        </p:nvSpPr>
        <p:spPr>
          <a:xfrm>
            <a:off x="457200" y="1234440"/>
            <a:ext cx="1600200" cy="822960"/>
          </a:xfrm>
          <a:prstGeom prst="rect">
            <a:avLst/>
          </a:prstGeom>
          <a:solidFill>
            <a:srgbClr val="8A8A85"/>
          </a:solidFill>
          <a:ln w="12700">
            <a:solidFill>
              <a:srgbClr val="8A8A85"/>
            </a:solidFill>
            <a:prstDash val="solid"/>
          </a:ln>
        </p:spPr>
      </p:sp>
      <p:sp>
        <p:nvSpPr>
          <p:cNvPr id="5" name="lane label RAG"/>
          <p:cNvSpPr txBox="1"/>
          <p:nvPr/>
        </p:nvSpPr>
        <p:spPr>
          <a:xfrm>
            <a:off x="530352" y="1234440"/>
            <a:ext cx="1463040" cy="822960"/>
          </a:xfrm>
          <a:prstGeom prst="rect">
            <a:avLst/>
          </a:prstGeom>
          <a:noFill/>
          <a:ln/>
        </p:spPr>
        <p:txBody>
          <a:bodyPr wrap="square" lIns="0" tIns="0" rIns="0" bIns="0" rtlCol="0" anchor="ctr"/>
          <a:lstStyle/>
          <a:p>
            <a:pPr indent="0" marL="0">
              <a:buNone/>
            </a:pPr>
            <a:r>
              <a:rPr lang="en-US" sz="1400" b="1" dirty="0">
                <a:solidFill>
                  <a:srgbClr val="FFFFFF"/>
                </a:solidFill>
              </a:rPr>
              <a:t>RAG</a:t>
            </a:r>
            <a:endParaRPr lang="en-US" sz="1400" dirty="0"/>
          </a:p>
        </p:txBody>
      </p:sp>
      <p:sp>
        <p:nvSpPr>
          <p:cNvPr id="6" name="step RAG 1"/>
          <p:cNvSpPr/>
          <p:nvPr/>
        </p:nvSpPr>
        <p:spPr>
          <a:xfrm>
            <a:off x="2240280" y="1389888"/>
            <a:ext cx="1950720" cy="512064"/>
          </a:xfrm>
          <a:prstGeom prst="roundRect">
            <a:avLst>
              <a:gd name="adj" fmla="val 14286"/>
            </a:avLst>
          </a:prstGeom>
          <a:solidFill>
            <a:srgbClr val="FFFFFF"/>
          </a:solidFill>
          <a:ln w="19050">
            <a:solidFill>
              <a:srgbClr val="8A8A85"/>
            </a:solidFill>
            <a:prstDash val="solid"/>
          </a:ln>
        </p:spPr>
      </p:sp>
      <p:sp>
        <p:nvSpPr>
          <p:cNvPr id="7" name="step text RAG 1"/>
          <p:cNvSpPr txBox="1"/>
          <p:nvPr/>
        </p:nvSpPr>
        <p:spPr>
          <a:xfrm>
            <a:off x="2240280" y="1389888"/>
            <a:ext cx="195072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Embed question</a:t>
            </a:r>
            <a:endParaRPr lang="en-US" sz="1200" dirty="0"/>
          </a:p>
        </p:txBody>
      </p:sp>
      <p:sp>
        <p:nvSpPr>
          <p:cNvPr id="8" name="arrow RAG 1"/>
          <p:cNvSpPr txBox="1"/>
          <p:nvPr/>
        </p:nvSpPr>
        <p:spPr>
          <a:xfrm>
            <a:off x="4191000" y="1389888"/>
            <a:ext cx="274320" cy="512064"/>
          </a:xfrm>
          <a:prstGeom prst="rect">
            <a:avLst/>
          </a:prstGeom>
          <a:noFill/>
          <a:ln/>
        </p:spPr>
        <p:txBody>
          <a:bodyPr wrap="square" lIns="0" tIns="0" rIns="0" bIns="0" rtlCol="0" anchor="ctr"/>
          <a:lstStyle/>
          <a:p>
            <a:pPr algn="ctr" indent="0" marL="0">
              <a:buNone/>
            </a:pPr>
            <a:r>
              <a:rPr lang="en-US" sz="2000" b="1" dirty="0">
                <a:solidFill>
                  <a:srgbClr val="8A8A85"/>
                </a:solidFill>
              </a:rPr>
              <a:t>â€º</a:t>
            </a:r>
            <a:endParaRPr lang="en-US" sz="2000" dirty="0"/>
          </a:p>
        </p:txBody>
      </p:sp>
      <p:sp>
        <p:nvSpPr>
          <p:cNvPr id="9" name="step RAG 2"/>
          <p:cNvSpPr/>
          <p:nvPr/>
        </p:nvSpPr>
        <p:spPr>
          <a:xfrm>
            <a:off x="4465320" y="1389888"/>
            <a:ext cx="1950720" cy="512064"/>
          </a:xfrm>
          <a:prstGeom prst="roundRect">
            <a:avLst>
              <a:gd name="adj" fmla="val 14286"/>
            </a:avLst>
          </a:prstGeom>
          <a:solidFill>
            <a:srgbClr val="FFFFFF"/>
          </a:solidFill>
          <a:ln w="19050">
            <a:solidFill>
              <a:srgbClr val="8A8A85"/>
            </a:solidFill>
            <a:prstDash val="solid"/>
          </a:ln>
        </p:spPr>
      </p:sp>
      <p:sp>
        <p:nvSpPr>
          <p:cNvPr id="10" name="step text RAG 2"/>
          <p:cNvSpPr txBox="1"/>
          <p:nvPr/>
        </p:nvSpPr>
        <p:spPr>
          <a:xfrm>
            <a:off x="4465320" y="1389888"/>
            <a:ext cx="195072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Top-6 chunks</a:t>
            </a:r>
            <a:endParaRPr lang="en-US" sz="1200" dirty="0"/>
          </a:p>
        </p:txBody>
      </p:sp>
      <p:sp>
        <p:nvSpPr>
          <p:cNvPr id="11" name="arrow RAG 2"/>
          <p:cNvSpPr txBox="1"/>
          <p:nvPr/>
        </p:nvSpPr>
        <p:spPr>
          <a:xfrm>
            <a:off x="6416040" y="1389888"/>
            <a:ext cx="274320" cy="512064"/>
          </a:xfrm>
          <a:prstGeom prst="rect">
            <a:avLst/>
          </a:prstGeom>
          <a:noFill/>
          <a:ln/>
        </p:spPr>
        <p:txBody>
          <a:bodyPr wrap="square" lIns="0" tIns="0" rIns="0" bIns="0" rtlCol="0" anchor="ctr"/>
          <a:lstStyle/>
          <a:p>
            <a:pPr algn="ctr" indent="0" marL="0">
              <a:buNone/>
            </a:pPr>
            <a:r>
              <a:rPr lang="en-US" sz="2000" b="1" dirty="0">
                <a:solidFill>
                  <a:srgbClr val="8A8A85"/>
                </a:solidFill>
              </a:rPr>
              <a:t>â€º</a:t>
            </a:r>
            <a:endParaRPr lang="en-US" sz="2000" dirty="0"/>
          </a:p>
        </p:txBody>
      </p:sp>
      <p:sp>
        <p:nvSpPr>
          <p:cNvPr id="12" name="step RAG 3"/>
          <p:cNvSpPr/>
          <p:nvPr/>
        </p:nvSpPr>
        <p:spPr>
          <a:xfrm>
            <a:off x="6690360" y="1389888"/>
            <a:ext cx="1950720" cy="512064"/>
          </a:xfrm>
          <a:prstGeom prst="roundRect">
            <a:avLst>
              <a:gd name="adj" fmla="val 14286"/>
            </a:avLst>
          </a:prstGeom>
          <a:solidFill>
            <a:srgbClr val="FFFFFF"/>
          </a:solidFill>
          <a:ln w="19050">
            <a:solidFill>
              <a:srgbClr val="8A8A85"/>
            </a:solidFill>
            <a:prstDash val="solid"/>
          </a:ln>
        </p:spPr>
      </p:sp>
      <p:sp>
        <p:nvSpPr>
          <p:cNvPr id="13" name="step text RAG 3"/>
          <p:cNvSpPr txBox="1"/>
          <p:nvPr/>
        </p:nvSpPr>
        <p:spPr>
          <a:xfrm>
            <a:off x="6690360" y="1389888"/>
            <a:ext cx="195072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1 LLM call</a:t>
            </a:r>
            <a:endParaRPr lang="en-US" sz="1200" dirty="0"/>
          </a:p>
        </p:txBody>
      </p:sp>
      <p:sp>
        <p:nvSpPr>
          <p:cNvPr id="14" name="lane GraphRAG"/>
          <p:cNvSpPr/>
          <p:nvPr/>
        </p:nvSpPr>
        <p:spPr>
          <a:xfrm>
            <a:off x="457200" y="2240280"/>
            <a:ext cx="8229600" cy="822960"/>
          </a:xfrm>
          <a:prstGeom prst="rect">
            <a:avLst/>
          </a:prstGeom>
          <a:solidFill>
            <a:srgbClr val="F3F4F6"/>
          </a:solidFill>
          <a:ln w="12700">
            <a:solidFill>
              <a:srgbClr val="F3F4F6"/>
            </a:solidFill>
            <a:prstDash val="solid"/>
          </a:ln>
        </p:spPr>
      </p:sp>
      <p:sp>
        <p:nvSpPr>
          <p:cNvPr id="15" name="lane label bg GraphRAG"/>
          <p:cNvSpPr/>
          <p:nvPr/>
        </p:nvSpPr>
        <p:spPr>
          <a:xfrm>
            <a:off x="457200" y="2240280"/>
            <a:ext cx="1600200" cy="822960"/>
          </a:xfrm>
          <a:prstGeom prst="rect">
            <a:avLst/>
          </a:prstGeom>
          <a:solidFill>
            <a:srgbClr val="2B6CB0"/>
          </a:solidFill>
          <a:ln w="12700">
            <a:solidFill>
              <a:srgbClr val="2B6CB0"/>
            </a:solidFill>
            <a:prstDash val="solid"/>
          </a:ln>
        </p:spPr>
      </p:sp>
      <p:sp>
        <p:nvSpPr>
          <p:cNvPr id="16" name="lane label GraphRAG"/>
          <p:cNvSpPr txBox="1"/>
          <p:nvPr/>
        </p:nvSpPr>
        <p:spPr>
          <a:xfrm>
            <a:off x="530352" y="2240280"/>
            <a:ext cx="1463040" cy="822960"/>
          </a:xfrm>
          <a:prstGeom prst="rect">
            <a:avLst/>
          </a:prstGeom>
          <a:noFill/>
          <a:ln/>
        </p:spPr>
        <p:txBody>
          <a:bodyPr wrap="square" lIns="0" tIns="0" rIns="0" bIns="0" rtlCol="0" anchor="ctr"/>
          <a:lstStyle/>
          <a:p>
            <a:pPr indent="0" marL="0">
              <a:buNone/>
            </a:pPr>
            <a:r>
              <a:rPr lang="en-US" sz="1400" b="1" dirty="0">
                <a:solidFill>
                  <a:srgbClr val="FFFFFF"/>
                </a:solidFill>
              </a:rPr>
              <a:t>GraphRAG</a:t>
            </a:r>
            <a:endParaRPr lang="en-US" sz="1400" dirty="0"/>
          </a:p>
        </p:txBody>
      </p:sp>
      <p:sp>
        <p:nvSpPr>
          <p:cNvPr id="17" name="step GraphRAG 1"/>
          <p:cNvSpPr/>
          <p:nvPr/>
        </p:nvSpPr>
        <p:spPr>
          <a:xfrm>
            <a:off x="2240280" y="2395728"/>
            <a:ext cx="1394460" cy="512064"/>
          </a:xfrm>
          <a:prstGeom prst="roundRect">
            <a:avLst>
              <a:gd name="adj" fmla="val 14286"/>
            </a:avLst>
          </a:prstGeom>
          <a:solidFill>
            <a:srgbClr val="FFFFFF"/>
          </a:solidFill>
          <a:ln w="19050">
            <a:solidFill>
              <a:srgbClr val="2B6CB0"/>
            </a:solidFill>
            <a:prstDash val="solid"/>
          </a:ln>
        </p:spPr>
      </p:sp>
      <p:sp>
        <p:nvSpPr>
          <p:cNvPr id="18" name="step text GraphRAG 1"/>
          <p:cNvSpPr txBox="1"/>
          <p:nvPr/>
        </p:nvSpPr>
        <p:spPr>
          <a:xfrm>
            <a:off x="2240280" y="2395728"/>
            <a:ext cx="139446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Vector seeds</a:t>
            </a:r>
            <a:endParaRPr lang="en-US" sz="1200" dirty="0"/>
          </a:p>
        </p:txBody>
      </p:sp>
      <p:sp>
        <p:nvSpPr>
          <p:cNvPr id="19" name="arrow GraphRAG 1"/>
          <p:cNvSpPr txBox="1"/>
          <p:nvPr/>
        </p:nvSpPr>
        <p:spPr>
          <a:xfrm>
            <a:off x="3634740" y="2395728"/>
            <a:ext cx="274320" cy="512064"/>
          </a:xfrm>
          <a:prstGeom prst="rect">
            <a:avLst/>
          </a:prstGeom>
          <a:noFill/>
          <a:ln/>
        </p:spPr>
        <p:txBody>
          <a:bodyPr wrap="square" lIns="0" tIns="0" rIns="0" bIns="0" rtlCol="0" anchor="ctr"/>
          <a:lstStyle/>
          <a:p>
            <a:pPr algn="ctr" indent="0" marL="0">
              <a:buNone/>
            </a:pPr>
            <a:r>
              <a:rPr lang="en-US" sz="2000" b="1" dirty="0">
                <a:solidFill>
                  <a:srgbClr val="2B6CB0"/>
                </a:solidFill>
              </a:rPr>
              <a:t>â€º</a:t>
            </a:r>
            <a:endParaRPr lang="en-US" sz="2000" dirty="0"/>
          </a:p>
        </p:txBody>
      </p:sp>
      <p:sp>
        <p:nvSpPr>
          <p:cNvPr id="20" name="step GraphRAG 2"/>
          <p:cNvSpPr/>
          <p:nvPr/>
        </p:nvSpPr>
        <p:spPr>
          <a:xfrm>
            <a:off x="3909060" y="2395728"/>
            <a:ext cx="1394460" cy="512064"/>
          </a:xfrm>
          <a:prstGeom prst="roundRect">
            <a:avLst>
              <a:gd name="adj" fmla="val 14286"/>
            </a:avLst>
          </a:prstGeom>
          <a:solidFill>
            <a:srgbClr val="FFFFFF"/>
          </a:solidFill>
          <a:ln w="19050">
            <a:solidFill>
              <a:srgbClr val="2B6CB0"/>
            </a:solidFill>
            <a:prstDash val="solid"/>
          </a:ln>
        </p:spPr>
      </p:sp>
      <p:sp>
        <p:nvSpPr>
          <p:cNvPr id="21" name="step text GraphRAG 2"/>
          <p:cNvSpPr txBox="1"/>
          <p:nvPr/>
        </p:nvSpPr>
        <p:spPr>
          <a:xfrm>
            <a:off x="3909060" y="2395728"/>
            <a:ext cx="139446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Link entities</a:t>
            </a:r>
            <a:endParaRPr lang="en-US" sz="1200" dirty="0"/>
          </a:p>
        </p:txBody>
      </p:sp>
      <p:sp>
        <p:nvSpPr>
          <p:cNvPr id="22" name="arrow GraphRAG 2"/>
          <p:cNvSpPr txBox="1"/>
          <p:nvPr/>
        </p:nvSpPr>
        <p:spPr>
          <a:xfrm>
            <a:off x="5303520" y="2395728"/>
            <a:ext cx="274320" cy="512064"/>
          </a:xfrm>
          <a:prstGeom prst="rect">
            <a:avLst/>
          </a:prstGeom>
          <a:noFill/>
          <a:ln/>
        </p:spPr>
        <p:txBody>
          <a:bodyPr wrap="square" lIns="0" tIns="0" rIns="0" bIns="0" rtlCol="0" anchor="ctr"/>
          <a:lstStyle/>
          <a:p>
            <a:pPr algn="ctr" indent="0" marL="0">
              <a:buNone/>
            </a:pPr>
            <a:r>
              <a:rPr lang="en-US" sz="2000" b="1" dirty="0">
                <a:solidFill>
                  <a:srgbClr val="2B6CB0"/>
                </a:solidFill>
              </a:rPr>
              <a:t>â€º</a:t>
            </a:r>
            <a:endParaRPr lang="en-US" sz="2000" dirty="0"/>
          </a:p>
        </p:txBody>
      </p:sp>
      <p:sp>
        <p:nvSpPr>
          <p:cNvPr id="23" name="step GraphRAG 3"/>
          <p:cNvSpPr/>
          <p:nvPr/>
        </p:nvSpPr>
        <p:spPr>
          <a:xfrm>
            <a:off x="5577840" y="2395728"/>
            <a:ext cx="1394460" cy="512064"/>
          </a:xfrm>
          <a:prstGeom prst="roundRect">
            <a:avLst>
              <a:gd name="adj" fmla="val 14286"/>
            </a:avLst>
          </a:prstGeom>
          <a:solidFill>
            <a:srgbClr val="FFFFFF"/>
          </a:solidFill>
          <a:ln w="19050">
            <a:solidFill>
              <a:srgbClr val="2B6CB0"/>
            </a:solidFill>
            <a:prstDash val="solid"/>
          </a:ln>
        </p:spPr>
      </p:sp>
      <p:sp>
        <p:nvSpPr>
          <p:cNvPr id="24" name="step text GraphRAG 3"/>
          <p:cNvSpPr txBox="1"/>
          <p:nvPr/>
        </p:nvSpPr>
        <p:spPr>
          <a:xfrm>
            <a:off x="5577840" y="2395728"/>
            <a:ext cx="139446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Expand the graph</a:t>
            </a:r>
            <a:endParaRPr lang="en-US" sz="1200" dirty="0"/>
          </a:p>
        </p:txBody>
      </p:sp>
      <p:sp>
        <p:nvSpPr>
          <p:cNvPr id="25" name="arrow GraphRAG 3"/>
          <p:cNvSpPr txBox="1"/>
          <p:nvPr/>
        </p:nvSpPr>
        <p:spPr>
          <a:xfrm>
            <a:off x="6972300" y="2395728"/>
            <a:ext cx="274320" cy="512064"/>
          </a:xfrm>
          <a:prstGeom prst="rect">
            <a:avLst/>
          </a:prstGeom>
          <a:noFill/>
          <a:ln/>
        </p:spPr>
        <p:txBody>
          <a:bodyPr wrap="square" lIns="0" tIns="0" rIns="0" bIns="0" rtlCol="0" anchor="ctr"/>
          <a:lstStyle/>
          <a:p>
            <a:pPr algn="ctr" indent="0" marL="0">
              <a:buNone/>
            </a:pPr>
            <a:r>
              <a:rPr lang="en-US" sz="2000" b="1" dirty="0">
                <a:solidFill>
                  <a:srgbClr val="2B6CB0"/>
                </a:solidFill>
              </a:rPr>
              <a:t>â€º</a:t>
            </a:r>
            <a:endParaRPr lang="en-US" sz="2000" dirty="0"/>
          </a:p>
        </p:txBody>
      </p:sp>
      <p:sp>
        <p:nvSpPr>
          <p:cNvPr id="26" name="step GraphRAG 4"/>
          <p:cNvSpPr/>
          <p:nvPr/>
        </p:nvSpPr>
        <p:spPr>
          <a:xfrm>
            <a:off x="7246620" y="2395728"/>
            <a:ext cx="1394460" cy="512064"/>
          </a:xfrm>
          <a:prstGeom prst="roundRect">
            <a:avLst>
              <a:gd name="adj" fmla="val 14286"/>
            </a:avLst>
          </a:prstGeom>
          <a:solidFill>
            <a:srgbClr val="FFFFFF"/>
          </a:solidFill>
          <a:ln w="19050">
            <a:solidFill>
              <a:srgbClr val="2B6CB0"/>
            </a:solidFill>
            <a:prstDash val="solid"/>
          </a:ln>
        </p:spPr>
      </p:sp>
      <p:sp>
        <p:nvSpPr>
          <p:cNvPr id="27" name="step text GraphRAG 4"/>
          <p:cNvSpPr txBox="1"/>
          <p:nvPr/>
        </p:nvSpPr>
        <p:spPr>
          <a:xfrm>
            <a:off x="7246620" y="2395728"/>
            <a:ext cx="139446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1 LLM call</a:t>
            </a:r>
            <a:endParaRPr lang="en-US" sz="1200" dirty="0"/>
          </a:p>
        </p:txBody>
      </p:sp>
      <p:sp>
        <p:nvSpPr>
          <p:cNvPr id="28" name="lane Agentic GraphRAG"/>
          <p:cNvSpPr/>
          <p:nvPr/>
        </p:nvSpPr>
        <p:spPr>
          <a:xfrm>
            <a:off x="457200" y="3246120"/>
            <a:ext cx="8229600" cy="822960"/>
          </a:xfrm>
          <a:prstGeom prst="rect">
            <a:avLst/>
          </a:prstGeom>
          <a:solidFill>
            <a:srgbClr val="F3F4F6"/>
          </a:solidFill>
          <a:ln w="12700">
            <a:solidFill>
              <a:srgbClr val="F3F4F6"/>
            </a:solidFill>
            <a:prstDash val="solid"/>
          </a:ln>
        </p:spPr>
      </p:sp>
      <p:sp>
        <p:nvSpPr>
          <p:cNvPr id="29" name="lane label bg Agentic GraphRAG"/>
          <p:cNvSpPr/>
          <p:nvPr/>
        </p:nvSpPr>
        <p:spPr>
          <a:xfrm>
            <a:off x="457200" y="3246120"/>
            <a:ext cx="1600200" cy="822960"/>
          </a:xfrm>
          <a:prstGeom prst="rect">
            <a:avLst/>
          </a:prstGeom>
          <a:solidFill>
            <a:srgbClr val="F26B21"/>
          </a:solidFill>
          <a:ln w="12700">
            <a:solidFill>
              <a:srgbClr val="F26B21"/>
            </a:solidFill>
            <a:prstDash val="solid"/>
          </a:ln>
        </p:spPr>
      </p:sp>
      <p:sp>
        <p:nvSpPr>
          <p:cNvPr id="30" name="lane label Agentic GraphRAG"/>
          <p:cNvSpPr txBox="1"/>
          <p:nvPr/>
        </p:nvSpPr>
        <p:spPr>
          <a:xfrm>
            <a:off x="530352" y="3246120"/>
            <a:ext cx="1463040" cy="822960"/>
          </a:xfrm>
          <a:prstGeom prst="rect">
            <a:avLst/>
          </a:prstGeom>
          <a:noFill/>
          <a:ln/>
        </p:spPr>
        <p:txBody>
          <a:bodyPr wrap="square" lIns="0" tIns="0" rIns="0" bIns="0" rtlCol="0" anchor="ctr"/>
          <a:lstStyle/>
          <a:p>
            <a:pPr indent="0" marL="0">
              <a:buNone/>
            </a:pPr>
            <a:r>
              <a:rPr lang="en-US" sz="1400" b="1" dirty="0">
                <a:solidFill>
                  <a:srgbClr val="FFFFFF"/>
                </a:solidFill>
              </a:rPr>
              <a:t>Agentic GraphRAG</a:t>
            </a:r>
            <a:endParaRPr lang="en-US" sz="1400" dirty="0"/>
          </a:p>
        </p:txBody>
      </p:sp>
      <p:sp>
        <p:nvSpPr>
          <p:cNvPr id="31" name="step Agentic GraphRAG 1"/>
          <p:cNvSpPr/>
          <p:nvPr/>
        </p:nvSpPr>
        <p:spPr>
          <a:xfrm>
            <a:off x="2240280" y="3401568"/>
            <a:ext cx="1394460" cy="512064"/>
          </a:xfrm>
          <a:prstGeom prst="roundRect">
            <a:avLst>
              <a:gd name="adj" fmla="val 14286"/>
            </a:avLst>
          </a:prstGeom>
          <a:solidFill>
            <a:srgbClr val="FFFFFF"/>
          </a:solidFill>
          <a:ln w="19050">
            <a:solidFill>
              <a:srgbClr val="F26B21"/>
            </a:solidFill>
            <a:prstDash val="solid"/>
          </a:ln>
        </p:spPr>
      </p:sp>
      <p:sp>
        <p:nvSpPr>
          <p:cNvPr id="32" name="step text Agentic GraphRAG 1"/>
          <p:cNvSpPr txBox="1"/>
          <p:nvPr/>
        </p:nvSpPr>
        <p:spPr>
          <a:xfrm>
            <a:off x="2240280" y="3401568"/>
            <a:ext cx="139446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Plan</a:t>
            </a:r>
            <a:endParaRPr lang="en-US" sz="1200" dirty="0"/>
          </a:p>
        </p:txBody>
      </p:sp>
      <p:sp>
        <p:nvSpPr>
          <p:cNvPr id="33" name="arrow Agentic GraphRAG 1"/>
          <p:cNvSpPr txBox="1"/>
          <p:nvPr/>
        </p:nvSpPr>
        <p:spPr>
          <a:xfrm>
            <a:off x="3634740" y="3401568"/>
            <a:ext cx="274320" cy="512064"/>
          </a:xfrm>
          <a:prstGeom prst="rect">
            <a:avLst/>
          </a:prstGeom>
          <a:noFill/>
          <a:ln/>
        </p:spPr>
        <p:txBody>
          <a:bodyPr wrap="square" lIns="0" tIns="0" rIns="0" bIns="0" rtlCol="0" anchor="ctr"/>
          <a:lstStyle/>
          <a:p>
            <a:pPr algn="ctr" indent="0" marL="0">
              <a:buNone/>
            </a:pPr>
            <a:r>
              <a:rPr lang="en-US" sz="2000" b="1" dirty="0">
                <a:solidFill>
                  <a:srgbClr val="F26B21"/>
                </a:solidFill>
              </a:rPr>
              <a:t>â€º</a:t>
            </a:r>
            <a:endParaRPr lang="en-US" sz="2000" dirty="0"/>
          </a:p>
        </p:txBody>
      </p:sp>
      <p:sp>
        <p:nvSpPr>
          <p:cNvPr id="34" name="step Agentic GraphRAG 2"/>
          <p:cNvSpPr/>
          <p:nvPr/>
        </p:nvSpPr>
        <p:spPr>
          <a:xfrm>
            <a:off x="3909060" y="3401568"/>
            <a:ext cx="1394460" cy="512064"/>
          </a:xfrm>
          <a:prstGeom prst="roundRect">
            <a:avLst>
              <a:gd name="adj" fmla="val 14286"/>
            </a:avLst>
          </a:prstGeom>
          <a:solidFill>
            <a:srgbClr val="FFFFFF"/>
          </a:solidFill>
          <a:ln w="19050">
            <a:solidFill>
              <a:srgbClr val="F26B21"/>
            </a:solidFill>
            <a:prstDash val="solid"/>
          </a:ln>
        </p:spPr>
      </p:sp>
      <p:sp>
        <p:nvSpPr>
          <p:cNvPr id="35" name="step text Agentic GraphRAG 2"/>
          <p:cNvSpPr txBox="1"/>
          <p:nvPr/>
        </p:nvSpPr>
        <p:spPr>
          <a:xfrm>
            <a:off x="3909060" y="3401568"/>
            <a:ext cx="139446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Call agent or tool</a:t>
            </a:r>
            <a:endParaRPr lang="en-US" sz="1200" dirty="0"/>
          </a:p>
        </p:txBody>
      </p:sp>
      <p:sp>
        <p:nvSpPr>
          <p:cNvPr id="36" name="arrow Agentic GraphRAG 2"/>
          <p:cNvSpPr txBox="1"/>
          <p:nvPr/>
        </p:nvSpPr>
        <p:spPr>
          <a:xfrm>
            <a:off x="5303520" y="3401568"/>
            <a:ext cx="274320" cy="512064"/>
          </a:xfrm>
          <a:prstGeom prst="rect">
            <a:avLst/>
          </a:prstGeom>
          <a:noFill/>
          <a:ln/>
        </p:spPr>
        <p:txBody>
          <a:bodyPr wrap="square" lIns="0" tIns="0" rIns="0" bIns="0" rtlCol="0" anchor="ctr"/>
          <a:lstStyle/>
          <a:p>
            <a:pPr algn="ctr" indent="0" marL="0">
              <a:buNone/>
            </a:pPr>
            <a:r>
              <a:rPr lang="en-US" sz="2000" b="1" dirty="0">
                <a:solidFill>
                  <a:srgbClr val="F26B21"/>
                </a:solidFill>
              </a:rPr>
              <a:t>â€º</a:t>
            </a:r>
            <a:endParaRPr lang="en-US" sz="2000" dirty="0"/>
          </a:p>
        </p:txBody>
      </p:sp>
      <p:sp>
        <p:nvSpPr>
          <p:cNvPr id="37" name="step Agentic GraphRAG 3"/>
          <p:cNvSpPr/>
          <p:nvPr/>
        </p:nvSpPr>
        <p:spPr>
          <a:xfrm>
            <a:off x="5577840" y="3401568"/>
            <a:ext cx="1394460" cy="512064"/>
          </a:xfrm>
          <a:prstGeom prst="roundRect">
            <a:avLst>
              <a:gd name="adj" fmla="val 14286"/>
            </a:avLst>
          </a:prstGeom>
          <a:solidFill>
            <a:srgbClr val="FFFFFF"/>
          </a:solidFill>
          <a:ln w="19050">
            <a:solidFill>
              <a:srgbClr val="F26B21"/>
            </a:solidFill>
            <a:prstDash val="solid"/>
          </a:ln>
        </p:spPr>
      </p:sp>
      <p:sp>
        <p:nvSpPr>
          <p:cNvPr id="38" name="step text Agentic GraphRAG 3"/>
          <p:cNvSpPr txBox="1"/>
          <p:nvPr/>
        </p:nvSpPr>
        <p:spPr>
          <a:xfrm>
            <a:off x="5577840" y="3401568"/>
            <a:ext cx="139446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Evaluate evidence</a:t>
            </a:r>
            <a:endParaRPr lang="en-US" sz="1200" dirty="0"/>
          </a:p>
        </p:txBody>
      </p:sp>
      <p:sp>
        <p:nvSpPr>
          <p:cNvPr id="39" name="arrow Agentic GraphRAG 3"/>
          <p:cNvSpPr txBox="1"/>
          <p:nvPr/>
        </p:nvSpPr>
        <p:spPr>
          <a:xfrm>
            <a:off x="6972300" y="3401568"/>
            <a:ext cx="274320" cy="512064"/>
          </a:xfrm>
          <a:prstGeom prst="rect">
            <a:avLst/>
          </a:prstGeom>
          <a:noFill/>
          <a:ln/>
        </p:spPr>
        <p:txBody>
          <a:bodyPr wrap="square" lIns="0" tIns="0" rIns="0" bIns="0" rtlCol="0" anchor="ctr"/>
          <a:lstStyle/>
          <a:p>
            <a:pPr algn="ctr" indent="0" marL="0">
              <a:buNone/>
            </a:pPr>
            <a:r>
              <a:rPr lang="en-US" sz="2000" b="1" dirty="0">
                <a:solidFill>
                  <a:srgbClr val="F26B21"/>
                </a:solidFill>
              </a:rPr>
              <a:t>â€º</a:t>
            </a:r>
            <a:endParaRPr lang="en-US" sz="2000" dirty="0"/>
          </a:p>
        </p:txBody>
      </p:sp>
      <p:sp>
        <p:nvSpPr>
          <p:cNvPr id="40" name="step Agentic GraphRAG 4"/>
          <p:cNvSpPr/>
          <p:nvPr/>
        </p:nvSpPr>
        <p:spPr>
          <a:xfrm>
            <a:off x="7246620" y="3401568"/>
            <a:ext cx="1394460" cy="512064"/>
          </a:xfrm>
          <a:prstGeom prst="roundRect">
            <a:avLst>
              <a:gd name="adj" fmla="val 14286"/>
            </a:avLst>
          </a:prstGeom>
          <a:solidFill>
            <a:srgbClr val="FFFFFF"/>
          </a:solidFill>
          <a:ln w="19050">
            <a:solidFill>
              <a:srgbClr val="F26B21"/>
            </a:solidFill>
            <a:prstDash val="solid"/>
          </a:ln>
        </p:spPr>
      </p:sp>
      <p:sp>
        <p:nvSpPr>
          <p:cNvPr id="41" name="step text Agentic GraphRAG 4"/>
          <p:cNvSpPr txBox="1"/>
          <p:nvPr/>
        </p:nvSpPr>
        <p:spPr>
          <a:xfrm>
            <a:off x="7246620" y="3401568"/>
            <a:ext cx="1394460" cy="512064"/>
          </a:xfrm>
          <a:prstGeom prst="rect">
            <a:avLst/>
          </a:prstGeom>
          <a:noFill/>
          <a:ln/>
        </p:spPr>
        <p:txBody>
          <a:bodyPr wrap="square" lIns="508" tIns="508" rIns="508" bIns="508" rtlCol="0" anchor="ctr"/>
          <a:lstStyle/>
          <a:p>
            <a:pPr algn="ctr" indent="0" marL="0">
              <a:buNone/>
            </a:pPr>
            <a:r>
              <a:rPr lang="en-US" sz="1200" b="1" dirty="0">
                <a:solidFill>
                  <a:srgbClr val="111827"/>
                </a:solidFill>
              </a:rPr>
              <a:t>Loop or finish</a:t>
            </a:r>
            <a:endParaRPr lang="en-US" sz="1200" dirty="0"/>
          </a:p>
        </p:txBody>
      </p:sp>
      <p:sp>
        <p:nvSpPr>
          <p:cNvPr id="42" name="metering note"/>
          <p:cNvSpPr txBox="1"/>
          <p:nvPr/>
        </p:nvSpPr>
        <p:spPr>
          <a:xfrm>
            <a:off x="457200" y="4297680"/>
            <a:ext cx="7680960" cy="320040"/>
          </a:xfrm>
          <a:prstGeom prst="rect">
            <a:avLst/>
          </a:prstGeom>
          <a:noFill/>
          <a:ln/>
        </p:spPr>
        <p:txBody>
          <a:bodyPr wrap="square" lIns="0" tIns="0" rIns="0" bIns="0" rtlCol="0" anchor="ctr"/>
          <a:lstStyle/>
          <a:p>
            <a:pPr indent="0" marL="0">
              <a:buNone/>
            </a:pPr>
            <a:r>
              <a:rPr lang="en-US" sz="1200" dirty="0">
                <a:solidFill>
                  <a:srgbClr val="6B7280"/>
                </a:solidFill>
              </a:rPr>
              <a:t>Every call is metered: input, output and embedding tokens, latency, steps, tools used, stop reason.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 deterministic graph and five agents</a:t>
            </a:r>
            <a:endParaRPr lang="en-US" sz="3000" dirty="0"/>
          </a:p>
        </p:txBody>
      </p:sp>
      <p:sp>
        <p:nvSpPr>
          <p:cNvPr id="3" name="stat card events"/>
          <p:cNvSpPr/>
          <p:nvPr/>
        </p:nvSpPr>
        <p:spPr>
          <a:xfrm>
            <a:off x="457200" y="1234440"/>
            <a:ext cx="1645920" cy="1097280"/>
          </a:xfrm>
          <a:prstGeom prst="rect">
            <a:avLst/>
          </a:prstGeom>
          <a:solidFill>
            <a:srgbClr val="F3F4F6"/>
          </a:solidFill>
          <a:ln w="12700">
            <a:solidFill>
              <a:srgbClr val="F3F4F6"/>
            </a:solidFill>
            <a:prstDash val="solid"/>
          </a:ln>
        </p:spPr>
      </p:sp>
      <p:sp>
        <p:nvSpPr>
          <p:cNvPr id="4" name="stat events"/>
          <p:cNvSpPr txBox="1"/>
          <p:nvPr/>
        </p:nvSpPr>
        <p:spPr>
          <a:xfrm>
            <a:off x="457200" y="1344168"/>
            <a:ext cx="1645920" cy="548640"/>
          </a:xfrm>
          <a:prstGeom prst="rect">
            <a:avLst/>
          </a:prstGeom>
          <a:noFill/>
          <a:ln/>
        </p:spPr>
        <p:txBody>
          <a:bodyPr wrap="square" lIns="0" tIns="0" rIns="0" bIns="0" rtlCol="0" anchor="ctr"/>
          <a:lstStyle/>
          <a:p>
            <a:pPr algn="ctr" indent="0" marL="0">
              <a:buNone/>
            </a:pPr>
            <a:r>
              <a:rPr lang="en-US" sz="3200" b="1" dirty="0">
                <a:solidFill>
                  <a:srgbClr val="2B6CB0"/>
                </a:solidFill>
                <a:latin typeface="Cambria" pitchFamily="34" charset="0"/>
                <a:ea typeface="Cambria" pitchFamily="34" charset="-122"/>
                <a:cs typeface="Cambria" pitchFamily="34" charset="-120"/>
              </a:rPr>
              <a:t>2,162</a:t>
            </a:r>
            <a:endParaRPr lang="en-US" sz="3200" dirty="0"/>
          </a:p>
        </p:txBody>
      </p:sp>
      <p:sp>
        <p:nvSpPr>
          <p:cNvPr id="5" name="stat label events"/>
          <p:cNvSpPr txBox="1"/>
          <p:nvPr/>
        </p:nvSpPr>
        <p:spPr>
          <a:xfrm>
            <a:off x="457200" y="1892808"/>
            <a:ext cx="1645920" cy="274320"/>
          </a:xfrm>
          <a:prstGeom prst="rect">
            <a:avLst/>
          </a:prstGeom>
          <a:noFill/>
          <a:ln/>
        </p:spPr>
        <p:txBody>
          <a:bodyPr wrap="square" lIns="0" tIns="0" rIns="0" bIns="0" rtlCol="0" anchor="ctr"/>
          <a:lstStyle/>
          <a:p>
            <a:pPr algn="ctr" indent="0" marL="0">
              <a:buNone/>
            </a:pPr>
            <a:r>
              <a:rPr lang="en-US" sz="1400" dirty="0">
                <a:solidFill>
                  <a:srgbClr val="374151"/>
                </a:solidFill>
              </a:rPr>
              <a:t>events</a:t>
            </a:r>
            <a:endParaRPr lang="en-US" sz="1400" dirty="0"/>
          </a:p>
        </p:txBody>
      </p:sp>
      <p:sp>
        <p:nvSpPr>
          <p:cNvPr id="6" name="stat card athletes"/>
          <p:cNvSpPr/>
          <p:nvPr/>
        </p:nvSpPr>
        <p:spPr>
          <a:xfrm>
            <a:off x="2240280" y="1234440"/>
            <a:ext cx="1645920" cy="1097280"/>
          </a:xfrm>
          <a:prstGeom prst="rect">
            <a:avLst/>
          </a:prstGeom>
          <a:solidFill>
            <a:srgbClr val="F3F4F6"/>
          </a:solidFill>
          <a:ln w="12700">
            <a:solidFill>
              <a:srgbClr val="F3F4F6"/>
            </a:solidFill>
            <a:prstDash val="solid"/>
          </a:ln>
        </p:spPr>
      </p:sp>
      <p:sp>
        <p:nvSpPr>
          <p:cNvPr id="7" name="stat athletes"/>
          <p:cNvSpPr txBox="1"/>
          <p:nvPr/>
        </p:nvSpPr>
        <p:spPr>
          <a:xfrm>
            <a:off x="2240280" y="1344168"/>
            <a:ext cx="1645920" cy="548640"/>
          </a:xfrm>
          <a:prstGeom prst="rect">
            <a:avLst/>
          </a:prstGeom>
          <a:noFill/>
          <a:ln/>
        </p:spPr>
        <p:txBody>
          <a:bodyPr wrap="square" lIns="0" tIns="0" rIns="0" bIns="0" rtlCol="0" anchor="ctr"/>
          <a:lstStyle/>
          <a:p>
            <a:pPr algn="ctr" indent="0" marL="0">
              <a:buNone/>
            </a:pPr>
            <a:r>
              <a:rPr lang="en-US" sz="3200" b="1" dirty="0">
                <a:solidFill>
                  <a:srgbClr val="2B6CB0"/>
                </a:solidFill>
                <a:latin typeface="Cambria" pitchFamily="34" charset="0"/>
                <a:ea typeface="Cambria" pitchFamily="34" charset="-122"/>
                <a:cs typeface="Cambria" pitchFamily="34" charset="-120"/>
              </a:rPr>
              <a:t>5,264</a:t>
            </a:r>
            <a:endParaRPr lang="en-US" sz="3200" dirty="0"/>
          </a:p>
        </p:txBody>
      </p:sp>
      <p:sp>
        <p:nvSpPr>
          <p:cNvPr id="8" name="stat label athletes"/>
          <p:cNvSpPr txBox="1"/>
          <p:nvPr/>
        </p:nvSpPr>
        <p:spPr>
          <a:xfrm>
            <a:off x="2240280" y="1892808"/>
            <a:ext cx="1645920" cy="274320"/>
          </a:xfrm>
          <a:prstGeom prst="rect">
            <a:avLst/>
          </a:prstGeom>
          <a:noFill/>
          <a:ln/>
        </p:spPr>
        <p:txBody>
          <a:bodyPr wrap="square" lIns="0" tIns="0" rIns="0" bIns="0" rtlCol="0" anchor="ctr"/>
          <a:lstStyle/>
          <a:p>
            <a:pPr algn="ctr" indent="0" marL="0">
              <a:buNone/>
            </a:pPr>
            <a:r>
              <a:rPr lang="en-US" sz="1400" dirty="0">
                <a:solidFill>
                  <a:srgbClr val="374151"/>
                </a:solidFill>
              </a:rPr>
              <a:t>athletes</a:t>
            </a:r>
            <a:endParaRPr lang="en-US" sz="1400" dirty="0"/>
          </a:p>
        </p:txBody>
      </p:sp>
      <p:sp>
        <p:nvSpPr>
          <p:cNvPr id="9" name="stat card venues"/>
          <p:cNvSpPr/>
          <p:nvPr/>
        </p:nvSpPr>
        <p:spPr>
          <a:xfrm>
            <a:off x="457200" y="2468880"/>
            <a:ext cx="1645920" cy="1097280"/>
          </a:xfrm>
          <a:prstGeom prst="rect">
            <a:avLst/>
          </a:prstGeom>
          <a:solidFill>
            <a:srgbClr val="F3F4F6"/>
          </a:solidFill>
          <a:ln w="12700">
            <a:solidFill>
              <a:srgbClr val="F3F4F6"/>
            </a:solidFill>
            <a:prstDash val="solid"/>
          </a:ln>
        </p:spPr>
      </p:sp>
      <p:sp>
        <p:nvSpPr>
          <p:cNvPr id="10" name="stat venues"/>
          <p:cNvSpPr txBox="1"/>
          <p:nvPr/>
        </p:nvSpPr>
        <p:spPr>
          <a:xfrm>
            <a:off x="457200" y="2578608"/>
            <a:ext cx="1645920" cy="548640"/>
          </a:xfrm>
          <a:prstGeom prst="rect">
            <a:avLst/>
          </a:prstGeom>
          <a:noFill/>
          <a:ln/>
        </p:spPr>
        <p:txBody>
          <a:bodyPr wrap="square" lIns="0" tIns="0" rIns="0" bIns="0" rtlCol="0" anchor="ctr"/>
          <a:lstStyle/>
          <a:p>
            <a:pPr algn="ctr" indent="0" marL="0">
              <a:buNone/>
            </a:pPr>
            <a:r>
              <a:rPr lang="en-US" sz="3200" b="1" dirty="0">
                <a:solidFill>
                  <a:srgbClr val="2B6CB0"/>
                </a:solidFill>
                <a:latin typeface="Cambria" pitchFamily="34" charset="0"/>
                <a:ea typeface="Cambria" pitchFamily="34" charset="-122"/>
                <a:cs typeface="Cambria" pitchFamily="34" charset="-120"/>
              </a:rPr>
              <a:t>303</a:t>
            </a:r>
            <a:endParaRPr lang="en-US" sz="3200" dirty="0"/>
          </a:p>
        </p:txBody>
      </p:sp>
      <p:sp>
        <p:nvSpPr>
          <p:cNvPr id="11" name="stat label venues"/>
          <p:cNvSpPr txBox="1"/>
          <p:nvPr/>
        </p:nvSpPr>
        <p:spPr>
          <a:xfrm>
            <a:off x="457200" y="3127248"/>
            <a:ext cx="1645920" cy="274320"/>
          </a:xfrm>
          <a:prstGeom prst="rect">
            <a:avLst/>
          </a:prstGeom>
          <a:noFill/>
          <a:ln/>
        </p:spPr>
        <p:txBody>
          <a:bodyPr wrap="square" lIns="0" tIns="0" rIns="0" bIns="0" rtlCol="0" anchor="ctr"/>
          <a:lstStyle/>
          <a:p>
            <a:pPr algn="ctr" indent="0" marL="0">
              <a:buNone/>
            </a:pPr>
            <a:r>
              <a:rPr lang="en-US" sz="1400" dirty="0">
                <a:solidFill>
                  <a:srgbClr val="374151"/>
                </a:solidFill>
              </a:rPr>
              <a:t>venues</a:t>
            </a:r>
            <a:endParaRPr lang="en-US" sz="1400" dirty="0"/>
          </a:p>
        </p:txBody>
      </p:sp>
      <p:sp>
        <p:nvSpPr>
          <p:cNvPr id="12" name="stat card nations"/>
          <p:cNvSpPr/>
          <p:nvPr/>
        </p:nvSpPr>
        <p:spPr>
          <a:xfrm>
            <a:off x="2240280" y="2468880"/>
            <a:ext cx="1645920" cy="1097280"/>
          </a:xfrm>
          <a:prstGeom prst="rect">
            <a:avLst/>
          </a:prstGeom>
          <a:solidFill>
            <a:srgbClr val="F3F4F6"/>
          </a:solidFill>
          <a:ln w="12700">
            <a:solidFill>
              <a:srgbClr val="F3F4F6"/>
            </a:solidFill>
            <a:prstDash val="solid"/>
          </a:ln>
        </p:spPr>
      </p:sp>
      <p:sp>
        <p:nvSpPr>
          <p:cNvPr id="13" name="stat nations"/>
          <p:cNvSpPr txBox="1"/>
          <p:nvPr/>
        </p:nvSpPr>
        <p:spPr>
          <a:xfrm>
            <a:off x="2240280" y="2578608"/>
            <a:ext cx="1645920" cy="548640"/>
          </a:xfrm>
          <a:prstGeom prst="rect">
            <a:avLst/>
          </a:prstGeom>
          <a:noFill/>
          <a:ln/>
        </p:spPr>
        <p:txBody>
          <a:bodyPr wrap="square" lIns="0" tIns="0" rIns="0" bIns="0" rtlCol="0" anchor="ctr"/>
          <a:lstStyle/>
          <a:p>
            <a:pPr algn="ctr" indent="0" marL="0">
              <a:buNone/>
            </a:pPr>
            <a:r>
              <a:rPr lang="en-US" sz="3200" b="1" dirty="0">
                <a:solidFill>
                  <a:srgbClr val="2B6CB0"/>
                </a:solidFill>
                <a:latin typeface="Cambria" pitchFamily="34" charset="0"/>
                <a:ea typeface="Cambria" pitchFamily="34" charset="-122"/>
                <a:cs typeface="Cambria" pitchFamily="34" charset="-120"/>
              </a:rPr>
              <a:t>136</a:t>
            </a:r>
            <a:endParaRPr lang="en-US" sz="3200" dirty="0"/>
          </a:p>
        </p:txBody>
      </p:sp>
      <p:sp>
        <p:nvSpPr>
          <p:cNvPr id="14" name="stat label nations"/>
          <p:cNvSpPr txBox="1"/>
          <p:nvPr/>
        </p:nvSpPr>
        <p:spPr>
          <a:xfrm>
            <a:off x="2240280" y="3127248"/>
            <a:ext cx="1645920" cy="274320"/>
          </a:xfrm>
          <a:prstGeom prst="rect">
            <a:avLst/>
          </a:prstGeom>
          <a:noFill/>
          <a:ln/>
        </p:spPr>
        <p:txBody>
          <a:bodyPr wrap="square" lIns="0" tIns="0" rIns="0" bIns="0" rtlCol="0" anchor="ctr"/>
          <a:lstStyle/>
          <a:p>
            <a:pPr algn="ctr" indent="0" marL="0">
              <a:buNone/>
            </a:pPr>
            <a:r>
              <a:rPr lang="en-US" sz="1400" dirty="0">
                <a:solidFill>
                  <a:srgbClr val="374151"/>
                </a:solidFill>
              </a:rPr>
              <a:t>nations</a:t>
            </a:r>
            <a:endParaRPr lang="en-US" sz="1400" dirty="0"/>
          </a:p>
        </p:txBody>
      </p:sp>
      <p:sp>
        <p:nvSpPr>
          <p:cNvPr id="15" name="graph note"/>
          <p:cNvSpPr txBox="1"/>
          <p:nvPr/>
        </p:nvSpPr>
        <p:spPr>
          <a:xfrm>
            <a:off x="457200" y="3749040"/>
            <a:ext cx="3429000" cy="822960"/>
          </a:xfrm>
          <a:prstGeom prst="rect">
            <a:avLst/>
          </a:prstGeom>
          <a:noFill/>
          <a:ln/>
        </p:spPr>
        <p:txBody>
          <a:bodyPr wrap="square" lIns="0" tIns="0" rIns="0" bIns="0" rtlCol="0" anchor="t"/>
          <a:lstStyle/>
          <a:p>
            <a:pPr indent="0" marL="0">
              <a:buNone/>
            </a:pPr>
            <a:r>
              <a:rPr lang="en-US" sz="1200" dirty="0">
                <a:solidFill>
                  <a:srgbClr val="6B7280"/>
                </a:solidFill>
              </a:rPr>
              <a:t>TigerGraph Savanna graph, built with regex from Olympic infoboxes. No LLM extraction, so ingest is cheap and reproducible.</a:t>
            </a:r>
            <a:endParaRPr lang="en-US" sz="1200" dirty="0"/>
          </a:p>
        </p:txBody>
      </p:sp>
      <p:sp>
        <p:nvSpPr>
          <p:cNvPr id="16" name="orchestrator"/>
          <p:cNvSpPr/>
          <p:nvPr/>
        </p:nvSpPr>
        <p:spPr>
          <a:xfrm>
            <a:off x="4297680" y="1234440"/>
            <a:ext cx="4389120" cy="502920"/>
          </a:xfrm>
          <a:prstGeom prst="roundRect">
            <a:avLst>
              <a:gd name="adj" fmla="val 18182"/>
            </a:avLst>
          </a:prstGeom>
          <a:solidFill>
            <a:srgbClr val="F26B21"/>
          </a:solidFill>
          <a:ln w="12700">
            <a:solidFill>
              <a:srgbClr val="F26B21"/>
            </a:solidFill>
            <a:prstDash val="solid"/>
          </a:ln>
        </p:spPr>
      </p:sp>
      <p:sp>
        <p:nvSpPr>
          <p:cNvPr id="17" name="orchestrator text"/>
          <p:cNvSpPr txBox="1"/>
          <p:nvPr/>
        </p:nvSpPr>
        <p:spPr>
          <a:xfrm>
            <a:off x="4297680" y="1234440"/>
            <a:ext cx="4389120" cy="502920"/>
          </a:xfrm>
          <a:prstGeom prst="rect">
            <a:avLst/>
          </a:prstGeom>
          <a:noFill/>
          <a:ln/>
        </p:spPr>
        <p:txBody>
          <a:bodyPr wrap="square" lIns="0" tIns="0" rIns="0" bIns="0" rtlCol="0" anchor="ctr"/>
          <a:lstStyle/>
          <a:p>
            <a:pPr algn="ctr" indent="0" marL="0">
              <a:buNone/>
            </a:pPr>
            <a:r>
              <a:rPr lang="en-US" sz="1400" b="1" dirty="0">
                <a:solidFill>
                  <a:srgbClr val="FFFFFF"/>
                </a:solidFill>
              </a:rPr>
              <a:t>Orchestrator LLM: plan, act, evaluate, stop</a:t>
            </a:r>
            <a:endParaRPr lang="en-US" sz="1400" dirty="0"/>
          </a:p>
        </p:txBody>
      </p:sp>
      <p:sp>
        <p:nvSpPr>
          <p:cNvPr id="18" name="agent row EntityLinker"/>
          <p:cNvSpPr/>
          <p:nvPr/>
        </p:nvSpPr>
        <p:spPr>
          <a:xfrm>
            <a:off x="4297680" y="1874520"/>
            <a:ext cx="4389120" cy="475488"/>
          </a:xfrm>
          <a:prstGeom prst="rect">
            <a:avLst/>
          </a:prstGeom>
          <a:solidFill>
            <a:srgbClr val="F3F4F6"/>
          </a:solidFill>
          <a:ln w="12700">
            <a:solidFill>
              <a:srgbClr val="F3F4F6"/>
            </a:solidFill>
            <a:prstDash val="solid"/>
          </a:ln>
        </p:spPr>
      </p:sp>
      <p:sp>
        <p:nvSpPr>
          <p:cNvPr id="19" name="agent dot EntityLinker"/>
          <p:cNvSpPr/>
          <p:nvPr/>
        </p:nvSpPr>
        <p:spPr>
          <a:xfrm>
            <a:off x="4434840" y="2011680"/>
            <a:ext cx="201168" cy="201168"/>
          </a:xfrm>
          <a:prstGeom prst="ellipse">
            <a:avLst/>
          </a:prstGeom>
          <a:solidFill>
            <a:srgbClr val="F26B21"/>
          </a:solidFill>
          <a:ln w="12700">
            <a:solidFill>
              <a:srgbClr val="F26B21"/>
            </a:solidFill>
            <a:prstDash val="solid"/>
          </a:ln>
        </p:spPr>
      </p:sp>
      <p:sp>
        <p:nvSpPr>
          <p:cNvPr id="20" name="agent name EntityLinker"/>
          <p:cNvSpPr txBox="1"/>
          <p:nvPr/>
        </p:nvSpPr>
        <p:spPr>
          <a:xfrm>
            <a:off x="4754880" y="1874520"/>
            <a:ext cx="1600200" cy="475488"/>
          </a:xfrm>
          <a:prstGeom prst="rect">
            <a:avLst/>
          </a:prstGeom>
          <a:noFill/>
          <a:ln/>
        </p:spPr>
        <p:txBody>
          <a:bodyPr wrap="square" lIns="0" tIns="0" rIns="0" bIns="0" rtlCol="0" anchor="ctr"/>
          <a:lstStyle/>
          <a:p>
            <a:pPr indent="0" marL="0">
              <a:buNone/>
            </a:pPr>
            <a:r>
              <a:rPr lang="en-US" sz="1300" b="1" dirty="0">
                <a:solidFill>
                  <a:srgbClr val="111827"/>
                </a:solidFill>
              </a:rPr>
              <a:t>EntityLinker</a:t>
            </a:r>
            <a:endParaRPr lang="en-US" sz="1300" dirty="0"/>
          </a:p>
        </p:txBody>
      </p:sp>
      <p:sp>
        <p:nvSpPr>
          <p:cNvPr id="21" name="agent tools EntityLinker"/>
          <p:cNvSpPr txBox="1"/>
          <p:nvPr/>
        </p:nvSpPr>
        <p:spPr>
          <a:xfrm>
            <a:off x="6355080" y="1874520"/>
            <a:ext cx="2286000" cy="475488"/>
          </a:xfrm>
          <a:prstGeom prst="rect">
            <a:avLst/>
          </a:prstGeom>
          <a:noFill/>
          <a:ln/>
        </p:spPr>
        <p:txBody>
          <a:bodyPr wrap="square" lIns="0" tIns="0" rIns="0" bIns="0" rtlCol="0" anchor="ctr"/>
          <a:lstStyle/>
          <a:p>
            <a:pPr indent="0" marL="0">
              <a:buNone/>
            </a:pPr>
            <a:r>
              <a:rPr lang="en-US" sz="1100" dirty="0">
                <a:solidFill>
                  <a:srgbClr val="374151"/>
                </a:solidFill>
              </a:rPr>
              <a:t>link_entity</a:t>
            </a:r>
            <a:endParaRPr lang="en-US" sz="1100" dirty="0"/>
          </a:p>
        </p:txBody>
      </p:sp>
      <p:sp>
        <p:nvSpPr>
          <p:cNvPr id="22" name="agent row Aggregator"/>
          <p:cNvSpPr/>
          <p:nvPr/>
        </p:nvSpPr>
        <p:spPr>
          <a:xfrm>
            <a:off x="4297680" y="2441448"/>
            <a:ext cx="4389120" cy="475488"/>
          </a:xfrm>
          <a:prstGeom prst="rect">
            <a:avLst/>
          </a:prstGeom>
          <a:solidFill>
            <a:srgbClr val="F3F4F6"/>
          </a:solidFill>
          <a:ln w="12700">
            <a:solidFill>
              <a:srgbClr val="F3F4F6"/>
            </a:solidFill>
            <a:prstDash val="solid"/>
          </a:ln>
        </p:spPr>
      </p:sp>
      <p:sp>
        <p:nvSpPr>
          <p:cNvPr id="23" name="agent dot Aggregator"/>
          <p:cNvSpPr/>
          <p:nvPr/>
        </p:nvSpPr>
        <p:spPr>
          <a:xfrm>
            <a:off x="4434840" y="2578608"/>
            <a:ext cx="201168" cy="201168"/>
          </a:xfrm>
          <a:prstGeom prst="ellipse">
            <a:avLst/>
          </a:prstGeom>
          <a:solidFill>
            <a:srgbClr val="F26B21"/>
          </a:solidFill>
          <a:ln w="12700">
            <a:solidFill>
              <a:srgbClr val="F26B21"/>
            </a:solidFill>
            <a:prstDash val="solid"/>
          </a:ln>
        </p:spPr>
      </p:sp>
      <p:sp>
        <p:nvSpPr>
          <p:cNvPr id="24" name="agent name Aggregator"/>
          <p:cNvSpPr txBox="1"/>
          <p:nvPr/>
        </p:nvSpPr>
        <p:spPr>
          <a:xfrm>
            <a:off x="4754880" y="2441448"/>
            <a:ext cx="1600200" cy="475488"/>
          </a:xfrm>
          <a:prstGeom prst="rect">
            <a:avLst/>
          </a:prstGeom>
          <a:noFill/>
          <a:ln/>
        </p:spPr>
        <p:txBody>
          <a:bodyPr wrap="square" lIns="0" tIns="0" rIns="0" bIns="0" rtlCol="0" anchor="ctr"/>
          <a:lstStyle/>
          <a:p>
            <a:pPr indent="0" marL="0">
              <a:buNone/>
            </a:pPr>
            <a:r>
              <a:rPr lang="en-US" sz="1300" b="1" dirty="0">
                <a:solidFill>
                  <a:srgbClr val="111827"/>
                </a:solidFill>
              </a:rPr>
              <a:t>Aggregator</a:t>
            </a:r>
            <a:endParaRPr lang="en-US" sz="1300" dirty="0"/>
          </a:p>
        </p:txBody>
      </p:sp>
      <p:sp>
        <p:nvSpPr>
          <p:cNvPr id="25" name="agent tools Aggregator"/>
          <p:cNvSpPr txBox="1"/>
          <p:nvPr/>
        </p:nvSpPr>
        <p:spPr>
          <a:xfrm>
            <a:off x="6355080" y="2441448"/>
            <a:ext cx="2286000" cy="475488"/>
          </a:xfrm>
          <a:prstGeom prst="rect">
            <a:avLst/>
          </a:prstGeom>
          <a:noFill/>
          <a:ln/>
        </p:spPr>
        <p:txBody>
          <a:bodyPr wrap="square" lIns="0" tIns="0" rIns="0" bIns="0" rtlCol="0" anchor="ctr"/>
          <a:lstStyle/>
          <a:p>
            <a:pPr indent="0" marL="0">
              <a:buNone/>
            </a:pPr>
            <a:r>
              <a:rPr lang="en-US" sz="1100" dirty="0">
                <a:solidFill>
                  <a:srgbClr val="374151"/>
                </a:solidFill>
              </a:rPr>
              <a:t>find_events: filter Â· count Â· rank</a:t>
            </a:r>
            <a:endParaRPr lang="en-US" sz="1100" dirty="0"/>
          </a:p>
        </p:txBody>
      </p:sp>
      <p:sp>
        <p:nvSpPr>
          <p:cNvPr id="26" name="agent row GraphTraverser"/>
          <p:cNvSpPr/>
          <p:nvPr/>
        </p:nvSpPr>
        <p:spPr>
          <a:xfrm>
            <a:off x="4297680" y="3008376"/>
            <a:ext cx="4389120" cy="475488"/>
          </a:xfrm>
          <a:prstGeom prst="rect">
            <a:avLst/>
          </a:prstGeom>
          <a:solidFill>
            <a:srgbClr val="F3F4F6"/>
          </a:solidFill>
          <a:ln w="12700">
            <a:solidFill>
              <a:srgbClr val="F3F4F6"/>
            </a:solidFill>
            <a:prstDash val="solid"/>
          </a:ln>
        </p:spPr>
      </p:sp>
      <p:sp>
        <p:nvSpPr>
          <p:cNvPr id="27" name="agent dot GraphTraverser"/>
          <p:cNvSpPr/>
          <p:nvPr/>
        </p:nvSpPr>
        <p:spPr>
          <a:xfrm>
            <a:off x="4434840" y="3145536"/>
            <a:ext cx="201168" cy="201168"/>
          </a:xfrm>
          <a:prstGeom prst="ellipse">
            <a:avLst/>
          </a:prstGeom>
          <a:solidFill>
            <a:srgbClr val="F26B21"/>
          </a:solidFill>
          <a:ln w="12700">
            <a:solidFill>
              <a:srgbClr val="F26B21"/>
            </a:solidFill>
            <a:prstDash val="solid"/>
          </a:ln>
        </p:spPr>
      </p:sp>
      <p:sp>
        <p:nvSpPr>
          <p:cNvPr id="28" name="agent name GraphTraverser"/>
          <p:cNvSpPr txBox="1"/>
          <p:nvPr/>
        </p:nvSpPr>
        <p:spPr>
          <a:xfrm>
            <a:off x="4754880" y="3008376"/>
            <a:ext cx="1600200" cy="475488"/>
          </a:xfrm>
          <a:prstGeom prst="rect">
            <a:avLst/>
          </a:prstGeom>
          <a:noFill/>
          <a:ln/>
        </p:spPr>
        <p:txBody>
          <a:bodyPr wrap="square" lIns="0" tIns="0" rIns="0" bIns="0" rtlCol="0" anchor="ctr"/>
          <a:lstStyle/>
          <a:p>
            <a:pPr indent="0" marL="0">
              <a:buNone/>
            </a:pPr>
            <a:r>
              <a:rPr lang="en-US" sz="1300" b="1" dirty="0">
                <a:solidFill>
                  <a:srgbClr val="111827"/>
                </a:solidFill>
              </a:rPr>
              <a:t>GraphTraverser</a:t>
            </a:r>
            <a:endParaRPr lang="en-US" sz="1300" dirty="0"/>
          </a:p>
        </p:txBody>
      </p:sp>
      <p:sp>
        <p:nvSpPr>
          <p:cNvPr id="29" name="agent tools GraphTraverser"/>
          <p:cNvSpPr txBox="1"/>
          <p:nvPr/>
        </p:nvSpPr>
        <p:spPr>
          <a:xfrm>
            <a:off x="6355080" y="3008376"/>
            <a:ext cx="2286000" cy="475488"/>
          </a:xfrm>
          <a:prstGeom prst="rect">
            <a:avLst/>
          </a:prstGeom>
          <a:noFill/>
          <a:ln/>
        </p:spPr>
        <p:txBody>
          <a:bodyPr wrap="square" lIns="0" tIns="0" rIns="0" bIns="0" rtlCol="0" anchor="ctr"/>
          <a:lstStyle/>
          <a:p>
            <a:pPr indent="0" marL="0">
              <a:buNone/>
            </a:pPr>
            <a:r>
              <a:rPr lang="en-US" sz="1100" dirty="0">
                <a:solidFill>
                  <a:srgbClr val="374151"/>
                </a:solidFill>
              </a:rPr>
              <a:t>get_event Â· previous_games</a:t>
            </a:r>
            <a:endParaRPr lang="en-US" sz="1100" dirty="0"/>
          </a:p>
        </p:txBody>
      </p:sp>
      <p:sp>
        <p:nvSpPr>
          <p:cNvPr id="30" name="agent row Retriever"/>
          <p:cNvSpPr/>
          <p:nvPr/>
        </p:nvSpPr>
        <p:spPr>
          <a:xfrm>
            <a:off x="4297680" y="3575304"/>
            <a:ext cx="4389120" cy="475488"/>
          </a:xfrm>
          <a:prstGeom prst="rect">
            <a:avLst/>
          </a:prstGeom>
          <a:solidFill>
            <a:srgbClr val="F3F4F6"/>
          </a:solidFill>
          <a:ln w="12700">
            <a:solidFill>
              <a:srgbClr val="F3F4F6"/>
            </a:solidFill>
            <a:prstDash val="solid"/>
          </a:ln>
        </p:spPr>
      </p:sp>
      <p:sp>
        <p:nvSpPr>
          <p:cNvPr id="31" name="agent dot Retriever"/>
          <p:cNvSpPr/>
          <p:nvPr/>
        </p:nvSpPr>
        <p:spPr>
          <a:xfrm>
            <a:off x="4434840" y="3712464"/>
            <a:ext cx="201168" cy="201168"/>
          </a:xfrm>
          <a:prstGeom prst="ellipse">
            <a:avLst/>
          </a:prstGeom>
          <a:solidFill>
            <a:srgbClr val="F26B21"/>
          </a:solidFill>
          <a:ln w="12700">
            <a:solidFill>
              <a:srgbClr val="F26B21"/>
            </a:solidFill>
            <a:prstDash val="solid"/>
          </a:ln>
        </p:spPr>
      </p:sp>
      <p:sp>
        <p:nvSpPr>
          <p:cNvPr id="32" name="agent name Retriever"/>
          <p:cNvSpPr txBox="1"/>
          <p:nvPr/>
        </p:nvSpPr>
        <p:spPr>
          <a:xfrm>
            <a:off x="4754880" y="3575304"/>
            <a:ext cx="1600200" cy="475488"/>
          </a:xfrm>
          <a:prstGeom prst="rect">
            <a:avLst/>
          </a:prstGeom>
          <a:noFill/>
          <a:ln/>
        </p:spPr>
        <p:txBody>
          <a:bodyPr wrap="square" lIns="0" tIns="0" rIns="0" bIns="0" rtlCol="0" anchor="ctr"/>
          <a:lstStyle/>
          <a:p>
            <a:pPr indent="0" marL="0">
              <a:buNone/>
            </a:pPr>
            <a:r>
              <a:rPr lang="en-US" sz="1300" b="1" dirty="0">
                <a:solidFill>
                  <a:srgbClr val="111827"/>
                </a:solidFill>
              </a:rPr>
              <a:t>Retriever</a:t>
            </a:r>
            <a:endParaRPr lang="en-US" sz="1300" dirty="0"/>
          </a:p>
        </p:txBody>
      </p:sp>
      <p:sp>
        <p:nvSpPr>
          <p:cNvPr id="33" name="agent tools Retriever"/>
          <p:cNvSpPr txBox="1"/>
          <p:nvPr/>
        </p:nvSpPr>
        <p:spPr>
          <a:xfrm>
            <a:off x="6355080" y="3575304"/>
            <a:ext cx="2286000" cy="475488"/>
          </a:xfrm>
          <a:prstGeom prst="rect">
            <a:avLst/>
          </a:prstGeom>
          <a:noFill/>
          <a:ln/>
        </p:spPr>
        <p:txBody>
          <a:bodyPr wrap="square" lIns="0" tIns="0" rIns="0" bIns="0" rtlCol="0" anchor="ctr"/>
          <a:lstStyle/>
          <a:p>
            <a:pPr indent="0" marL="0">
              <a:buNone/>
            </a:pPr>
            <a:r>
              <a:rPr lang="en-US" sz="1100" dirty="0">
                <a:solidFill>
                  <a:srgbClr val="374151"/>
                </a:solidFill>
              </a:rPr>
              <a:t>vector_search Â· get_chunks</a:t>
            </a:r>
            <a:endParaRPr lang="en-US" sz="1100" dirty="0"/>
          </a:p>
        </p:txBody>
      </p:sp>
      <p:sp>
        <p:nvSpPr>
          <p:cNvPr id="34" name="agent row EvidenceEvaluator"/>
          <p:cNvSpPr/>
          <p:nvPr/>
        </p:nvSpPr>
        <p:spPr>
          <a:xfrm>
            <a:off x="4297680" y="4142232"/>
            <a:ext cx="4389120" cy="475488"/>
          </a:xfrm>
          <a:prstGeom prst="rect">
            <a:avLst/>
          </a:prstGeom>
          <a:solidFill>
            <a:srgbClr val="F3F4F6"/>
          </a:solidFill>
          <a:ln w="12700">
            <a:solidFill>
              <a:srgbClr val="F3F4F6"/>
            </a:solidFill>
            <a:prstDash val="solid"/>
          </a:ln>
        </p:spPr>
      </p:sp>
      <p:sp>
        <p:nvSpPr>
          <p:cNvPr id="35" name="agent dot EvidenceEvaluator"/>
          <p:cNvSpPr/>
          <p:nvPr/>
        </p:nvSpPr>
        <p:spPr>
          <a:xfrm>
            <a:off x="4434840" y="4279392"/>
            <a:ext cx="201168" cy="201168"/>
          </a:xfrm>
          <a:prstGeom prst="ellipse">
            <a:avLst/>
          </a:prstGeom>
          <a:solidFill>
            <a:srgbClr val="F26B21"/>
          </a:solidFill>
          <a:ln w="12700">
            <a:solidFill>
              <a:srgbClr val="F26B21"/>
            </a:solidFill>
            <a:prstDash val="solid"/>
          </a:ln>
        </p:spPr>
      </p:sp>
      <p:sp>
        <p:nvSpPr>
          <p:cNvPr id="36" name="agent name EvidenceEvaluator"/>
          <p:cNvSpPr txBox="1"/>
          <p:nvPr/>
        </p:nvSpPr>
        <p:spPr>
          <a:xfrm>
            <a:off x="4754880" y="4142232"/>
            <a:ext cx="1600200" cy="475488"/>
          </a:xfrm>
          <a:prstGeom prst="rect">
            <a:avLst/>
          </a:prstGeom>
          <a:noFill/>
          <a:ln/>
        </p:spPr>
        <p:txBody>
          <a:bodyPr wrap="square" lIns="0" tIns="0" rIns="0" bIns="0" rtlCol="0" anchor="ctr"/>
          <a:lstStyle/>
          <a:p>
            <a:pPr indent="0" marL="0">
              <a:buNone/>
            </a:pPr>
            <a:r>
              <a:rPr lang="en-US" sz="1300" b="1" dirty="0">
                <a:solidFill>
                  <a:srgbClr val="111827"/>
                </a:solidFill>
              </a:rPr>
              <a:t>EvidenceEvaluator</a:t>
            </a:r>
            <a:endParaRPr lang="en-US" sz="1300" dirty="0"/>
          </a:p>
        </p:txBody>
      </p:sp>
      <p:sp>
        <p:nvSpPr>
          <p:cNvPr id="37" name="agent tools EvidenceEvaluator"/>
          <p:cNvSpPr txBox="1"/>
          <p:nvPr/>
        </p:nvSpPr>
        <p:spPr>
          <a:xfrm>
            <a:off x="6355080" y="4142232"/>
            <a:ext cx="2286000" cy="475488"/>
          </a:xfrm>
          <a:prstGeom prst="rect">
            <a:avLst/>
          </a:prstGeom>
          <a:noFill/>
          <a:ln/>
        </p:spPr>
        <p:txBody>
          <a:bodyPr wrap="square" lIns="0" tIns="0" rIns="0" bIns="0" rtlCol="0" anchor="ctr"/>
          <a:lstStyle/>
          <a:p>
            <a:pPr indent="0" marL="0">
              <a:buNone/>
            </a:pPr>
            <a:r>
              <a:rPr lang="en-US" sz="1100" dirty="0">
                <a:solidFill>
                  <a:srgbClr val="374151"/>
                </a:solidFill>
              </a:rPr>
              <a:t>check_evidence</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97% accuracy at RAG's token budget</a:t>
            </a:r>
            <a:endParaRPr lang="en-US" sz="3000" dirty="0"/>
          </a:p>
        </p:txBody>
      </p:sp>
      <p:graphicFrame>
        <p:nvGraphicFramePr>
          <p:cNvPr id="3" name="Chart 0" descr=""/>
          <p:cNvGraphicFramePr/>
          <p:nvPr/>
        </p:nvGraphicFramePr>
        <p:xfrm>
          <a:off x="365760" y="1143000"/>
          <a:ext cx="4846320" cy="3474720"/>
        </p:xfrm>
        <a:graphic xmlns:a="http://schemas.openxmlformats.org/drawingml/2006/main">
          <a:graphicData uri="http://schemas.openxmlformats.org/drawingml/2006/chart">
            <c:chart xmlns:c="http://schemas.openxmlformats.org/drawingml/2006/chart" r:id="rId1"/>
          </a:graphicData>
        </a:graphic>
      </p:graphicFrame>
      <p:sp>
        <p:nvSpPr>
          <p:cNvPr id="4" name="kpi card tokens per answer"/>
          <p:cNvSpPr/>
          <p:nvPr/>
        </p:nvSpPr>
        <p:spPr>
          <a:xfrm>
            <a:off x="5486400" y="1188720"/>
            <a:ext cx="3200400" cy="1051560"/>
          </a:xfrm>
          <a:prstGeom prst="rect">
            <a:avLst/>
          </a:prstGeom>
          <a:solidFill>
            <a:srgbClr val="F3F4F6"/>
          </a:solidFill>
          <a:ln w="12700">
            <a:solidFill>
              <a:srgbClr val="F3F4F6"/>
            </a:solidFill>
            <a:prstDash val="solid"/>
          </a:ln>
        </p:spPr>
      </p:sp>
      <p:sp>
        <p:nvSpPr>
          <p:cNvPr id="5" name="kpi tokens per answer"/>
          <p:cNvSpPr txBox="1"/>
          <p:nvPr/>
        </p:nvSpPr>
        <p:spPr>
          <a:xfrm>
            <a:off x="5623560" y="1234440"/>
            <a:ext cx="1280160" cy="960120"/>
          </a:xfrm>
          <a:prstGeom prst="rect">
            <a:avLst/>
          </a:prstGeom>
          <a:noFill/>
          <a:ln/>
        </p:spPr>
        <p:txBody>
          <a:bodyPr wrap="square" lIns="0" tIns="0" rIns="0" bIns="0" rtlCol="0" anchor="ctr"/>
          <a:lstStyle/>
          <a:p>
            <a:pPr indent="0" marL="0">
              <a:buNone/>
            </a:pPr>
            <a:r>
              <a:rPr lang="en-US" sz="2800" b="1" dirty="0">
                <a:solidFill>
                  <a:srgbClr val="F26B21"/>
                </a:solidFill>
                <a:latin typeface="Cambria" pitchFamily="34" charset="0"/>
                <a:ea typeface="Cambria" pitchFamily="34" charset="-122"/>
                <a:cs typeface="Cambria" pitchFamily="34" charset="-120"/>
              </a:rPr>
              <a:t>3,024</a:t>
            </a:r>
            <a:endParaRPr lang="en-US" sz="2800" dirty="0"/>
          </a:p>
        </p:txBody>
      </p:sp>
      <p:sp>
        <p:nvSpPr>
          <p:cNvPr id="6" name="kpi text tokens per answer"/>
          <p:cNvSpPr txBox="1"/>
          <p:nvPr/>
        </p:nvSpPr>
        <p:spPr>
          <a:xfrm>
            <a:off x="6903720" y="1280160"/>
            <a:ext cx="1737360" cy="868680"/>
          </a:xfrm>
          <a:prstGeom prst="rect">
            <a:avLst/>
          </a:prstGeom>
          <a:noFill/>
          <a:ln/>
        </p:spPr>
        <p:txBody>
          <a:bodyPr wrap="square" lIns="0" tIns="0" rIns="0" bIns="0" rtlCol="0" anchor="ctr"/>
          <a:lstStyle/>
          <a:p>
            <a:pPr indent="0" marL="0">
              <a:buNone/>
            </a:pPr>
            <a:r>
              <a:rPr lang="en-US" sz="1400" b="1" dirty="0">
                <a:solidFill>
                  <a:srgbClr val="111827"/>
                </a:solidFill>
              </a:rPr>
              <a:t>tokens per answer</a:t>
            </a:r>
            <a:endParaRPr lang="en-US" sz="1400" dirty="0"/>
          </a:p>
          <a:p>
            <a:pPr indent="0" marL="0">
              <a:buNone/>
            </a:pPr>
            <a:r>
              <a:rPr lang="en-US" sz="1100" dirty="0">
                <a:solidFill>
                  <a:srgbClr val="6B7280"/>
                </a:solidFill>
              </a:rPr>
              <a:t>RAG 2,498 (agent +21%)</a:t>
            </a:r>
            <a:endParaRPr lang="en-US" sz="1400" dirty="0"/>
          </a:p>
        </p:txBody>
      </p:sp>
      <p:sp>
        <p:nvSpPr>
          <p:cNvPr id="7" name="kpi card average agent steps"/>
          <p:cNvSpPr/>
          <p:nvPr/>
        </p:nvSpPr>
        <p:spPr>
          <a:xfrm>
            <a:off x="5486400" y="2359152"/>
            <a:ext cx="3200400" cy="1051560"/>
          </a:xfrm>
          <a:prstGeom prst="rect">
            <a:avLst/>
          </a:prstGeom>
          <a:solidFill>
            <a:srgbClr val="F3F4F6"/>
          </a:solidFill>
          <a:ln w="12700">
            <a:solidFill>
              <a:srgbClr val="F3F4F6"/>
            </a:solidFill>
            <a:prstDash val="solid"/>
          </a:ln>
        </p:spPr>
      </p:sp>
      <p:sp>
        <p:nvSpPr>
          <p:cNvPr id="8" name="kpi average agent steps"/>
          <p:cNvSpPr txBox="1"/>
          <p:nvPr/>
        </p:nvSpPr>
        <p:spPr>
          <a:xfrm>
            <a:off x="5623560" y="2404872"/>
            <a:ext cx="1280160" cy="960120"/>
          </a:xfrm>
          <a:prstGeom prst="rect">
            <a:avLst/>
          </a:prstGeom>
          <a:noFill/>
          <a:ln/>
        </p:spPr>
        <p:txBody>
          <a:bodyPr wrap="square" lIns="0" tIns="0" rIns="0" bIns="0" rtlCol="0" anchor="ctr"/>
          <a:lstStyle/>
          <a:p>
            <a:pPr indent="0" marL="0">
              <a:buNone/>
            </a:pPr>
            <a:r>
              <a:rPr lang="en-US" sz="2800" b="1" dirty="0">
                <a:solidFill>
                  <a:srgbClr val="F26B21"/>
                </a:solidFill>
                <a:latin typeface="Cambria" pitchFamily="34" charset="0"/>
                <a:ea typeface="Cambria" pitchFamily="34" charset="-122"/>
                <a:cs typeface="Cambria" pitchFamily="34" charset="-120"/>
              </a:rPr>
              <a:t>2.4</a:t>
            </a:r>
            <a:endParaRPr lang="en-US" sz="2800" dirty="0"/>
          </a:p>
        </p:txBody>
      </p:sp>
      <p:sp>
        <p:nvSpPr>
          <p:cNvPr id="9" name="kpi text average agent steps"/>
          <p:cNvSpPr txBox="1"/>
          <p:nvPr/>
        </p:nvSpPr>
        <p:spPr>
          <a:xfrm>
            <a:off x="6903720" y="2450592"/>
            <a:ext cx="1737360" cy="868680"/>
          </a:xfrm>
          <a:prstGeom prst="rect">
            <a:avLst/>
          </a:prstGeom>
          <a:noFill/>
          <a:ln/>
        </p:spPr>
        <p:txBody>
          <a:bodyPr wrap="square" lIns="0" tIns="0" rIns="0" bIns="0" rtlCol="0" anchor="ctr"/>
          <a:lstStyle/>
          <a:p>
            <a:pPr indent="0" marL="0">
              <a:buNone/>
            </a:pPr>
            <a:r>
              <a:rPr lang="en-US" sz="1400" b="1" dirty="0">
                <a:solidFill>
                  <a:srgbClr val="111827"/>
                </a:solidFill>
              </a:rPr>
              <a:t>average agent steps</a:t>
            </a:r>
            <a:endParaRPr lang="en-US" sz="1400" dirty="0"/>
          </a:p>
          <a:p>
            <a:pPr indent="0" marL="0">
              <a:buNone/>
            </a:pPr>
            <a:r>
              <a:rPr lang="en-US" sz="1100" dirty="0">
                <a:solidFill>
                  <a:srgbClr val="6B7280"/>
                </a:solidFill>
              </a:rPr>
              <a:t>2.0 for counts, 3.2 for temporal</a:t>
            </a:r>
            <a:endParaRPr lang="en-US" sz="1400" dirty="0"/>
          </a:p>
        </p:txBody>
      </p:sp>
      <p:sp>
        <p:nvSpPr>
          <p:cNvPr id="10" name="kpi card average latency"/>
          <p:cNvSpPr/>
          <p:nvPr/>
        </p:nvSpPr>
        <p:spPr>
          <a:xfrm>
            <a:off x="5486400" y="3529584"/>
            <a:ext cx="3200400" cy="1051560"/>
          </a:xfrm>
          <a:prstGeom prst="rect">
            <a:avLst/>
          </a:prstGeom>
          <a:solidFill>
            <a:srgbClr val="F3F4F6"/>
          </a:solidFill>
          <a:ln w="12700">
            <a:solidFill>
              <a:srgbClr val="F3F4F6"/>
            </a:solidFill>
            <a:prstDash val="solid"/>
          </a:ln>
        </p:spPr>
      </p:sp>
      <p:sp>
        <p:nvSpPr>
          <p:cNvPr id="11" name="kpi average latency"/>
          <p:cNvSpPr txBox="1"/>
          <p:nvPr/>
        </p:nvSpPr>
        <p:spPr>
          <a:xfrm>
            <a:off x="5623560" y="3575304"/>
            <a:ext cx="1280160" cy="960120"/>
          </a:xfrm>
          <a:prstGeom prst="rect">
            <a:avLst/>
          </a:prstGeom>
          <a:noFill/>
          <a:ln/>
        </p:spPr>
        <p:txBody>
          <a:bodyPr wrap="square" lIns="0" tIns="0" rIns="0" bIns="0" rtlCol="0" anchor="ctr"/>
          <a:lstStyle/>
          <a:p>
            <a:pPr indent="0" marL="0">
              <a:buNone/>
            </a:pPr>
            <a:r>
              <a:rPr lang="en-US" sz="2800" b="1" dirty="0">
                <a:solidFill>
                  <a:srgbClr val="F26B21"/>
                </a:solidFill>
                <a:latin typeface="Cambria" pitchFamily="34" charset="0"/>
                <a:ea typeface="Cambria" pitchFamily="34" charset="-122"/>
                <a:cs typeface="Cambria" pitchFamily="34" charset="-120"/>
              </a:rPr>
              <a:t>7.1 s</a:t>
            </a:r>
            <a:endParaRPr lang="en-US" sz="2800" dirty="0"/>
          </a:p>
        </p:txBody>
      </p:sp>
      <p:sp>
        <p:nvSpPr>
          <p:cNvPr id="12" name="kpi text average latency"/>
          <p:cNvSpPr txBox="1"/>
          <p:nvPr/>
        </p:nvSpPr>
        <p:spPr>
          <a:xfrm>
            <a:off x="6903720" y="3621024"/>
            <a:ext cx="1737360" cy="868680"/>
          </a:xfrm>
          <a:prstGeom prst="rect">
            <a:avLst/>
          </a:prstGeom>
          <a:noFill/>
          <a:ln/>
        </p:spPr>
        <p:txBody>
          <a:bodyPr wrap="square" lIns="0" tIns="0" rIns="0" bIns="0" rtlCol="0" anchor="ctr"/>
          <a:lstStyle/>
          <a:p>
            <a:pPr indent="0" marL="0">
              <a:buNone/>
            </a:pPr>
            <a:r>
              <a:rPr lang="en-US" sz="1400" b="1" dirty="0">
                <a:solidFill>
                  <a:srgbClr val="111827"/>
                </a:solidFill>
              </a:rPr>
              <a:t>average latency</a:t>
            </a:r>
            <a:endParaRPr lang="en-US" sz="1400" dirty="0"/>
          </a:p>
          <a:p>
            <a:pPr indent="0" marL="0">
              <a:buNone/>
            </a:pPr>
            <a:r>
              <a:rPr lang="en-US" sz="1100" dirty="0">
                <a:solidFill>
                  <a:srgbClr val="6B7280"/>
                </a:solidFill>
              </a:rPr>
              <a:t>RAG 1.7 s Â· GraphRAG 13.9 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Where an agent pays off</a:t>
            </a:r>
            <a:endParaRPr lang="en-US" sz="3000" dirty="0"/>
          </a:p>
        </p:txBody>
      </p:sp>
      <p:graphicFrame>
        <p:nvGraphicFramePr>
          <p:cNvPr id="3" name="Chart 0" descr=""/>
          <p:cNvGraphicFramePr/>
          <p:nvPr/>
        </p:nvGraphicFramePr>
        <p:xfrm>
          <a:off x="365760" y="1097280"/>
          <a:ext cx="5577840" cy="3566160"/>
        </p:xfrm>
        <a:graphic xmlns:a="http://schemas.openxmlformats.org/drawingml/2006/main">
          <a:graphicData uri="http://schemas.openxmlformats.org/drawingml/2006/chart">
            <c:chart xmlns:c="http://schemas.openxmlformats.org/drawingml/2006/chart" r:id="rId1"/>
          </a:graphicData>
        </a:graphic>
      </p:graphicFrame>
      <p:sp>
        <p:nvSpPr>
          <p:cNvPr id="4" name="wins card"/>
          <p:cNvSpPr/>
          <p:nvPr/>
        </p:nvSpPr>
        <p:spPr>
          <a:xfrm>
            <a:off x="6217920" y="1188720"/>
            <a:ext cx="2468880" cy="1828800"/>
          </a:xfrm>
          <a:prstGeom prst="rect">
            <a:avLst/>
          </a:prstGeom>
          <a:solidFill>
            <a:srgbClr val="F3F4F6"/>
          </a:solidFill>
          <a:ln w="12700">
            <a:solidFill>
              <a:srgbClr val="F3F4F6"/>
            </a:solidFill>
            <a:prstDash val="solid"/>
          </a:ln>
        </p:spPr>
      </p:sp>
      <p:sp>
        <p:nvSpPr>
          <p:cNvPr id="5" name="wins dot"/>
          <p:cNvSpPr/>
          <p:nvPr/>
        </p:nvSpPr>
        <p:spPr>
          <a:xfrm>
            <a:off x="6382512" y="1325880"/>
            <a:ext cx="182880" cy="182880"/>
          </a:xfrm>
          <a:prstGeom prst="ellipse">
            <a:avLst/>
          </a:prstGeom>
          <a:solidFill>
            <a:srgbClr val="2F855A"/>
          </a:solidFill>
          <a:ln w="12700">
            <a:solidFill>
              <a:srgbClr val="2F855A"/>
            </a:solidFill>
            <a:prstDash val="solid"/>
          </a:ln>
        </p:spPr>
      </p:sp>
      <p:sp>
        <p:nvSpPr>
          <p:cNvPr id="6" name="wins head"/>
          <p:cNvSpPr txBox="1"/>
          <p:nvPr/>
        </p:nvSpPr>
        <p:spPr>
          <a:xfrm>
            <a:off x="6675120" y="1261872"/>
            <a:ext cx="1920240" cy="310896"/>
          </a:xfrm>
          <a:prstGeom prst="rect">
            <a:avLst/>
          </a:prstGeom>
          <a:noFill/>
          <a:ln/>
        </p:spPr>
        <p:txBody>
          <a:bodyPr wrap="square" lIns="0" tIns="0" rIns="0" bIns="0" rtlCol="0" anchor="ctr"/>
          <a:lstStyle/>
          <a:p>
            <a:pPr indent="0" marL="0">
              <a:buNone/>
            </a:pPr>
            <a:r>
              <a:rPr lang="en-US" sz="1400" b="1" dirty="0">
                <a:solidFill>
                  <a:srgbClr val="2F855A"/>
                </a:solidFill>
              </a:rPr>
              <a:t>Agent wins</a:t>
            </a:r>
            <a:endParaRPr lang="en-US" sz="1400" dirty="0"/>
          </a:p>
        </p:txBody>
      </p:sp>
      <p:sp>
        <p:nvSpPr>
          <p:cNvPr id="7" name="wins body"/>
          <p:cNvSpPr txBox="1"/>
          <p:nvPr/>
        </p:nvSpPr>
        <p:spPr>
          <a:xfrm>
            <a:off x="6382512" y="1645920"/>
            <a:ext cx="2194560" cy="1325880"/>
          </a:xfrm>
          <a:prstGeom prst="rect">
            <a:avLst/>
          </a:prstGeom>
          <a:noFill/>
          <a:ln/>
        </p:spPr>
        <p:txBody>
          <a:bodyPr wrap="square" lIns="0" tIns="0" rIns="0" bIns="0" rtlCol="0" anchor="t"/>
          <a:lstStyle/>
          <a:p>
            <a:pPr indent="0" marL="0">
              <a:buNone/>
            </a:pPr>
            <a:r>
              <a:rPr lang="en-US" sz="1300" dirty="0">
                <a:solidFill>
                  <a:srgbClr val="374151"/>
                </a:solidFill>
              </a:rPr>
              <a:t>Counting questions: RAG 0 of 21, agent 21 of 21, at the same token cost. It needs every matching event, not the top-k.</a:t>
            </a:r>
            <a:endParaRPr lang="en-US" sz="1300" dirty="0"/>
          </a:p>
        </p:txBody>
      </p:sp>
      <p:sp>
        <p:nvSpPr>
          <p:cNvPr id="8" name="overkill card"/>
          <p:cNvSpPr/>
          <p:nvPr/>
        </p:nvSpPr>
        <p:spPr>
          <a:xfrm>
            <a:off x="6217920" y="3200400"/>
            <a:ext cx="2468880" cy="1417320"/>
          </a:xfrm>
          <a:prstGeom prst="rect">
            <a:avLst/>
          </a:prstGeom>
          <a:solidFill>
            <a:srgbClr val="F3F4F6"/>
          </a:solidFill>
          <a:ln w="12700">
            <a:solidFill>
              <a:srgbClr val="F3F4F6"/>
            </a:solidFill>
            <a:prstDash val="solid"/>
          </a:ln>
        </p:spPr>
      </p:sp>
      <p:sp>
        <p:nvSpPr>
          <p:cNvPr id="9" name="overkill dot"/>
          <p:cNvSpPr/>
          <p:nvPr/>
        </p:nvSpPr>
        <p:spPr>
          <a:xfrm>
            <a:off x="6382512" y="3337560"/>
            <a:ext cx="182880" cy="182880"/>
          </a:xfrm>
          <a:prstGeom prst="ellipse">
            <a:avLst/>
          </a:prstGeom>
          <a:solidFill>
            <a:srgbClr val="C53030"/>
          </a:solidFill>
          <a:ln w="12700">
            <a:solidFill>
              <a:srgbClr val="C53030"/>
            </a:solidFill>
            <a:prstDash val="solid"/>
          </a:ln>
        </p:spPr>
      </p:sp>
      <p:sp>
        <p:nvSpPr>
          <p:cNvPr id="10" name="overkill head"/>
          <p:cNvSpPr txBox="1"/>
          <p:nvPr/>
        </p:nvSpPr>
        <p:spPr>
          <a:xfrm>
            <a:off x="6675120" y="3273552"/>
            <a:ext cx="1920240" cy="310896"/>
          </a:xfrm>
          <a:prstGeom prst="rect">
            <a:avLst/>
          </a:prstGeom>
          <a:noFill/>
          <a:ln/>
        </p:spPr>
        <p:txBody>
          <a:bodyPr wrap="square" lIns="0" tIns="0" rIns="0" bIns="0" rtlCol="0" anchor="ctr"/>
          <a:lstStyle/>
          <a:p>
            <a:pPr indent="0" marL="0">
              <a:buNone/>
            </a:pPr>
            <a:r>
              <a:rPr lang="en-US" sz="1400" b="1" dirty="0">
                <a:solidFill>
                  <a:srgbClr val="C53030"/>
                </a:solidFill>
              </a:rPr>
              <a:t>Overkill</a:t>
            </a:r>
            <a:endParaRPr lang="en-US" sz="1400" dirty="0"/>
          </a:p>
        </p:txBody>
      </p:sp>
      <p:sp>
        <p:nvSpPr>
          <p:cNvPr id="11" name="overkill body"/>
          <p:cNvSpPr txBox="1"/>
          <p:nvPr/>
        </p:nvSpPr>
        <p:spPr>
          <a:xfrm>
            <a:off x="6382512" y="3657600"/>
            <a:ext cx="2194560" cy="914400"/>
          </a:xfrm>
          <a:prstGeom prst="rect">
            <a:avLst/>
          </a:prstGeom>
          <a:noFill/>
          <a:ln/>
        </p:spPr>
        <p:txBody>
          <a:bodyPr wrap="square" lIns="0" tIns="0" rIns="0" bIns="0" rtlCol="0" anchor="t"/>
          <a:lstStyle/>
          <a:p>
            <a:pPr indent="0" marL="0">
              <a:buNone/>
            </a:pPr>
            <a:r>
              <a:rPr lang="en-US" sz="1300" dirty="0">
                <a:solidFill>
                  <a:srgbClr val="374151"/>
                </a:solidFill>
              </a:rPr>
              <a:t>Plain lookups: about 100% for all three, agent uses 30% more tokens.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agent in action</a:t>
            </a:r>
            <a:endParaRPr lang="en-US" sz="3000" dirty="0"/>
          </a:p>
        </p:txBody>
      </p:sp>
      <p:sp>
        <p:nvSpPr>
          <p:cNvPr id="3" name="question band"/>
          <p:cNvSpPr/>
          <p:nvPr/>
        </p:nvSpPr>
        <p:spPr>
          <a:xfrm>
            <a:off x="457200" y="1143000"/>
            <a:ext cx="8229600" cy="594360"/>
          </a:xfrm>
          <a:prstGeom prst="rect">
            <a:avLst/>
          </a:prstGeom>
          <a:solidFill>
            <a:srgbClr val="F3F4F6"/>
          </a:solidFill>
          <a:ln w="12700">
            <a:solidFill>
              <a:srgbClr val="F3F4F6"/>
            </a:solidFill>
            <a:prstDash val="solid"/>
          </a:ln>
        </p:spPr>
      </p:sp>
      <p:sp>
        <p:nvSpPr>
          <p:cNvPr id="4" name="question text"/>
          <p:cNvSpPr txBox="1"/>
          <p:nvPr/>
        </p:nvSpPr>
        <p:spPr>
          <a:xfrm>
            <a:off x="640080" y="1143000"/>
            <a:ext cx="7863840" cy="594360"/>
          </a:xfrm>
          <a:prstGeom prst="rect">
            <a:avLst/>
          </a:prstGeom>
          <a:noFill/>
          <a:ln/>
        </p:spPr>
        <p:txBody>
          <a:bodyPr wrap="square" lIns="0" tIns="0" rIns="0" bIns="0" rtlCol="0" anchor="ctr"/>
          <a:lstStyle/>
          <a:p>
            <a:pPr indent="0" marL="0">
              <a:buNone/>
            </a:pPr>
            <a:r>
              <a:rPr lang="en-US" sz="1400" i="1" dirty="0">
                <a:solidFill>
                  <a:srgbClr val="111827"/>
                </a:solidFill>
              </a:rPr>
              <a:t>How many biathlon events at the 2018 Winter Olympics had more than 73 competitors?</a:t>
            </a:r>
            <a:endParaRPr lang="en-US" sz="1400" dirty="0"/>
          </a:p>
        </p:txBody>
      </p:sp>
      <p:sp>
        <p:nvSpPr>
          <p:cNvPr id="5" name="answer card RAG"/>
          <p:cNvSpPr/>
          <p:nvPr/>
        </p:nvSpPr>
        <p:spPr>
          <a:xfrm>
            <a:off x="457200" y="1874520"/>
            <a:ext cx="2606040" cy="1188720"/>
          </a:xfrm>
          <a:prstGeom prst="rect">
            <a:avLst/>
          </a:prstGeom>
          <a:solidFill>
            <a:srgbClr val="FFFFFF"/>
          </a:solidFill>
          <a:ln w="25400">
            <a:solidFill>
              <a:srgbClr val="8A8A85"/>
            </a:solidFill>
            <a:prstDash val="solid"/>
          </a:ln>
        </p:spPr>
      </p:sp>
      <p:sp>
        <p:nvSpPr>
          <p:cNvPr id="6" name="answer name RAG"/>
          <p:cNvSpPr txBox="1"/>
          <p:nvPr/>
        </p:nvSpPr>
        <p:spPr>
          <a:xfrm>
            <a:off x="594360" y="1920240"/>
            <a:ext cx="2331720" cy="274320"/>
          </a:xfrm>
          <a:prstGeom prst="rect">
            <a:avLst/>
          </a:prstGeom>
          <a:noFill/>
          <a:ln/>
        </p:spPr>
        <p:txBody>
          <a:bodyPr wrap="square" lIns="0" tIns="0" rIns="0" bIns="0" rtlCol="0" anchor="ctr"/>
          <a:lstStyle/>
          <a:p>
            <a:pPr indent="0" marL="0">
              <a:buNone/>
            </a:pPr>
            <a:r>
              <a:rPr lang="en-US" sz="1200" b="1" dirty="0">
                <a:solidFill>
                  <a:srgbClr val="8A8A85"/>
                </a:solidFill>
              </a:rPr>
              <a:t>RAG</a:t>
            </a:r>
            <a:endParaRPr lang="en-US" sz="1200" dirty="0"/>
          </a:p>
        </p:txBody>
      </p:sp>
      <p:sp>
        <p:nvSpPr>
          <p:cNvPr id="7" name="answer value RAG"/>
          <p:cNvSpPr txBox="1"/>
          <p:nvPr/>
        </p:nvSpPr>
        <p:spPr>
          <a:xfrm>
            <a:off x="594360" y="2194560"/>
            <a:ext cx="1097280" cy="777240"/>
          </a:xfrm>
          <a:prstGeom prst="rect">
            <a:avLst/>
          </a:prstGeom>
          <a:noFill/>
          <a:ln/>
        </p:spPr>
        <p:txBody>
          <a:bodyPr wrap="square" lIns="0" tIns="0" rIns="0" bIns="0" rtlCol="0" anchor="ctr"/>
          <a:lstStyle/>
          <a:p>
            <a:pPr indent="0" marL="0">
              <a:buNone/>
            </a:pPr>
            <a:r>
              <a:rPr lang="en-US" sz="4400" b="1" dirty="0">
                <a:solidFill>
                  <a:srgbClr val="111827"/>
                </a:solidFill>
                <a:latin typeface="Cambria" pitchFamily="34" charset="0"/>
                <a:ea typeface="Cambria" pitchFamily="34" charset="-122"/>
                <a:cs typeface="Cambria" pitchFamily="34" charset="-120"/>
              </a:rPr>
              <a:t>2</a:t>
            </a:r>
            <a:endParaRPr lang="en-US" sz="4400" dirty="0"/>
          </a:p>
        </p:txBody>
      </p:sp>
      <p:sp>
        <p:nvSpPr>
          <p:cNvPr id="8" name="answer verdict RAG"/>
          <p:cNvSpPr txBox="1"/>
          <p:nvPr/>
        </p:nvSpPr>
        <p:spPr>
          <a:xfrm>
            <a:off x="1234440" y="2194560"/>
            <a:ext cx="1645920" cy="777240"/>
          </a:xfrm>
          <a:prstGeom prst="rect">
            <a:avLst/>
          </a:prstGeom>
          <a:noFill/>
          <a:ln/>
        </p:spPr>
        <p:txBody>
          <a:bodyPr wrap="square" lIns="0" tIns="0" rIns="0" bIns="0" rtlCol="0" anchor="ctr"/>
          <a:lstStyle/>
          <a:p>
            <a:pPr indent="0" marL="0">
              <a:buNone/>
            </a:pPr>
            <a:r>
              <a:rPr lang="en-US" sz="1800" b="1" dirty="0">
                <a:solidFill>
                  <a:srgbClr val="C53030"/>
                </a:solidFill>
              </a:rPr>
              <a:t>wrong</a:t>
            </a:r>
            <a:endParaRPr lang="en-US" sz="1800" dirty="0"/>
          </a:p>
        </p:txBody>
      </p:sp>
      <p:sp>
        <p:nvSpPr>
          <p:cNvPr id="9" name="answer card GraphRAG"/>
          <p:cNvSpPr/>
          <p:nvPr/>
        </p:nvSpPr>
        <p:spPr>
          <a:xfrm>
            <a:off x="3246120" y="1874520"/>
            <a:ext cx="2606040" cy="1188720"/>
          </a:xfrm>
          <a:prstGeom prst="rect">
            <a:avLst/>
          </a:prstGeom>
          <a:solidFill>
            <a:srgbClr val="FFFFFF"/>
          </a:solidFill>
          <a:ln w="25400">
            <a:solidFill>
              <a:srgbClr val="2B6CB0"/>
            </a:solidFill>
            <a:prstDash val="solid"/>
          </a:ln>
        </p:spPr>
      </p:sp>
      <p:sp>
        <p:nvSpPr>
          <p:cNvPr id="10" name="answer name GraphRAG"/>
          <p:cNvSpPr txBox="1"/>
          <p:nvPr/>
        </p:nvSpPr>
        <p:spPr>
          <a:xfrm>
            <a:off x="3383280" y="1920240"/>
            <a:ext cx="2331720" cy="274320"/>
          </a:xfrm>
          <a:prstGeom prst="rect">
            <a:avLst/>
          </a:prstGeom>
          <a:noFill/>
          <a:ln/>
        </p:spPr>
        <p:txBody>
          <a:bodyPr wrap="square" lIns="0" tIns="0" rIns="0" bIns="0" rtlCol="0" anchor="ctr"/>
          <a:lstStyle/>
          <a:p>
            <a:pPr indent="0" marL="0">
              <a:buNone/>
            </a:pPr>
            <a:r>
              <a:rPr lang="en-US" sz="1200" b="1" dirty="0">
                <a:solidFill>
                  <a:srgbClr val="2B6CB0"/>
                </a:solidFill>
              </a:rPr>
              <a:t>GraphRAG</a:t>
            </a:r>
            <a:endParaRPr lang="en-US" sz="1200" dirty="0"/>
          </a:p>
        </p:txBody>
      </p:sp>
      <p:sp>
        <p:nvSpPr>
          <p:cNvPr id="11" name="answer value GraphRAG"/>
          <p:cNvSpPr txBox="1"/>
          <p:nvPr/>
        </p:nvSpPr>
        <p:spPr>
          <a:xfrm>
            <a:off x="3383280" y="2194560"/>
            <a:ext cx="1097280" cy="777240"/>
          </a:xfrm>
          <a:prstGeom prst="rect">
            <a:avLst/>
          </a:prstGeom>
          <a:noFill/>
          <a:ln/>
        </p:spPr>
        <p:txBody>
          <a:bodyPr wrap="square" lIns="0" tIns="0" rIns="0" bIns="0" rtlCol="0" anchor="ctr"/>
          <a:lstStyle/>
          <a:p>
            <a:pPr indent="0" marL="0">
              <a:buNone/>
            </a:pPr>
            <a:r>
              <a:rPr lang="en-US" sz="4400" b="1" dirty="0">
                <a:solidFill>
                  <a:srgbClr val="111827"/>
                </a:solidFill>
                <a:latin typeface="Cambria" pitchFamily="34" charset="0"/>
                <a:ea typeface="Cambria" pitchFamily="34" charset="-122"/>
                <a:cs typeface="Cambria" pitchFamily="34" charset="-120"/>
              </a:rPr>
              <a:t>6</a:t>
            </a:r>
            <a:endParaRPr lang="en-US" sz="4400" dirty="0"/>
          </a:p>
        </p:txBody>
      </p:sp>
      <p:sp>
        <p:nvSpPr>
          <p:cNvPr id="12" name="answer verdict GraphRAG"/>
          <p:cNvSpPr txBox="1"/>
          <p:nvPr/>
        </p:nvSpPr>
        <p:spPr>
          <a:xfrm>
            <a:off x="4023360" y="2194560"/>
            <a:ext cx="1645920" cy="777240"/>
          </a:xfrm>
          <a:prstGeom prst="rect">
            <a:avLst/>
          </a:prstGeom>
          <a:noFill/>
          <a:ln/>
        </p:spPr>
        <p:txBody>
          <a:bodyPr wrap="square" lIns="0" tIns="0" rIns="0" bIns="0" rtlCol="0" anchor="ctr"/>
          <a:lstStyle/>
          <a:p>
            <a:pPr indent="0" marL="0">
              <a:buNone/>
            </a:pPr>
            <a:r>
              <a:rPr lang="en-US" sz="1800" b="1" dirty="0">
                <a:solidFill>
                  <a:srgbClr val="C53030"/>
                </a:solidFill>
              </a:rPr>
              <a:t>wrong</a:t>
            </a:r>
            <a:endParaRPr lang="en-US" sz="1800" dirty="0"/>
          </a:p>
        </p:txBody>
      </p:sp>
      <p:sp>
        <p:nvSpPr>
          <p:cNvPr id="13" name="answer card Agentic GraphRAG"/>
          <p:cNvSpPr/>
          <p:nvPr/>
        </p:nvSpPr>
        <p:spPr>
          <a:xfrm>
            <a:off x="6035040" y="1874520"/>
            <a:ext cx="2606040" cy="1188720"/>
          </a:xfrm>
          <a:prstGeom prst="rect">
            <a:avLst/>
          </a:prstGeom>
          <a:solidFill>
            <a:srgbClr val="FFFFFF"/>
          </a:solidFill>
          <a:ln w="25400">
            <a:solidFill>
              <a:srgbClr val="F26B21"/>
            </a:solidFill>
            <a:prstDash val="solid"/>
          </a:ln>
        </p:spPr>
      </p:sp>
      <p:sp>
        <p:nvSpPr>
          <p:cNvPr id="14" name="answer name Agentic GraphRAG"/>
          <p:cNvSpPr txBox="1"/>
          <p:nvPr/>
        </p:nvSpPr>
        <p:spPr>
          <a:xfrm>
            <a:off x="6172200" y="1920240"/>
            <a:ext cx="2331720" cy="274320"/>
          </a:xfrm>
          <a:prstGeom prst="rect">
            <a:avLst/>
          </a:prstGeom>
          <a:noFill/>
          <a:ln/>
        </p:spPr>
        <p:txBody>
          <a:bodyPr wrap="square" lIns="0" tIns="0" rIns="0" bIns="0" rtlCol="0" anchor="ctr"/>
          <a:lstStyle/>
          <a:p>
            <a:pPr indent="0" marL="0">
              <a:buNone/>
            </a:pPr>
            <a:r>
              <a:rPr lang="en-US" sz="1200" b="1" dirty="0">
                <a:solidFill>
                  <a:srgbClr val="F26B21"/>
                </a:solidFill>
              </a:rPr>
              <a:t>Agentic GraphRAG</a:t>
            </a:r>
            <a:endParaRPr lang="en-US" sz="1200" dirty="0"/>
          </a:p>
        </p:txBody>
      </p:sp>
      <p:sp>
        <p:nvSpPr>
          <p:cNvPr id="15" name="answer value Agentic GraphRAG"/>
          <p:cNvSpPr txBox="1"/>
          <p:nvPr/>
        </p:nvSpPr>
        <p:spPr>
          <a:xfrm>
            <a:off x="6172200" y="2194560"/>
            <a:ext cx="1097280" cy="777240"/>
          </a:xfrm>
          <a:prstGeom prst="rect">
            <a:avLst/>
          </a:prstGeom>
          <a:noFill/>
          <a:ln/>
        </p:spPr>
        <p:txBody>
          <a:bodyPr wrap="square" lIns="0" tIns="0" rIns="0" bIns="0" rtlCol="0" anchor="ctr"/>
          <a:lstStyle/>
          <a:p>
            <a:pPr indent="0" marL="0">
              <a:buNone/>
            </a:pPr>
            <a:r>
              <a:rPr lang="en-US" sz="4400" b="1" dirty="0">
                <a:solidFill>
                  <a:srgbClr val="111827"/>
                </a:solidFill>
                <a:latin typeface="Cambria" pitchFamily="34" charset="0"/>
                <a:ea typeface="Cambria" pitchFamily="34" charset="-122"/>
                <a:cs typeface="Cambria" pitchFamily="34" charset="-120"/>
              </a:rPr>
              <a:t>5</a:t>
            </a:r>
            <a:endParaRPr lang="en-US" sz="4400" dirty="0"/>
          </a:p>
        </p:txBody>
      </p:sp>
      <p:sp>
        <p:nvSpPr>
          <p:cNvPr id="16" name="answer verdict Agentic GraphRAG"/>
          <p:cNvSpPr txBox="1"/>
          <p:nvPr/>
        </p:nvSpPr>
        <p:spPr>
          <a:xfrm>
            <a:off x="6812280" y="2194560"/>
            <a:ext cx="1645920" cy="777240"/>
          </a:xfrm>
          <a:prstGeom prst="rect">
            <a:avLst/>
          </a:prstGeom>
          <a:noFill/>
          <a:ln/>
        </p:spPr>
        <p:txBody>
          <a:bodyPr wrap="square" lIns="0" tIns="0" rIns="0" bIns="0" rtlCol="0" anchor="ctr"/>
          <a:lstStyle/>
          <a:p>
            <a:pPr indent="0" marL="0">
              <a:buNone/>
            </a:pPr>
            <a:r>
              <a:rPr lang="en-US" sz="1800" b="1" dirty="0">
                <a:solidFill>
                  <a:srgbClr val="2F855A"/>
                </a:solidFill>
              </a:rPr>
              <a:t>correct</a:t>
            </a:r>
            <a:endParaRPr lang="en-US" sz="1800" dirty="0"/>
          </a:p>
        </p:txBody>
      </p:sp>
      <p:sp>
        <p:nvSpPr>
          <p:cNvPr id="17" name="trace box"/>
          <p:cNvSpPr/>
          <p:nvPr/>
        </p:nvSpPr>
        <p:spPr>
          <a:xfrm>
            <a:off x="457200" y="3246120"/>
            <a:ext cx="8229600" cy="1371600"/>
          </a:xfrm>
          <a:prstGeom prst="rect">
            <a:avLst/>
          </a:prstGeom>
          <a:solidFill>
            <a:srgbClr val="111827"/>
          </a:solidFill>
          <a:ln w="12700">
            <a:solidFill>
              <a:srgbClr val="111827"/>
            </a:solidFill>
            <a:prstDash val="solid"/>
          </a:ln>
        </p:spPr>
      </p:sp>
      <p:sp>
        <p:nvSpPr>
          <p:cNvPr id="18" name="trace text"/>
          <p:cNvSpPr txBox="1"/>
          <p:nvPr/>
        </p:nvSpPr>
        <p:spPr>
          <a:xfrm>
            <a:off x="640080" y="3291840"/>
            <a:ext cx="7863840" cy="1280160"/>
          </a:xfrm>
          <a:prstGeom prst="rect">
            <a:avLst/>
          </a:prstGeom>
          <a:noFill/>
          <a:ln/>
        </p:spPr>
        <p:txBody>
          <a:bodyPr wrap="square" lIns="0" tIns="0" rIns="0" bIns="0" rtlCol="0" anchor="ctr"/>
          <a:lstStyle/>
          <a:p>
            <a:pPr indent="0" marL="0">
              <a:spcAft>
                <a:spcPts val="300"/>
              </a:spcAft>
              <a:buNone/>
            </a:pPr>
            <a:r>
              <a:rPr lang="en-US" sz="1100" dirty="0">
                <a:solidFill>
                  <a:srgbClr val="9CA3AF"/>
                </a:solidFill>
                <a:latin typeface="Courier New" pitchFamily="34" charset="0"/>
                <a:ea typeface="Courier New" pitchFamily="34" charset="-122"/>
                <a:cs typeface="Courier New" pitchFamily="34" charset="-120"/>
              </a:rPr>
              <a:t>agent trace Â· 2 steps Â· 2,237 tokens</a:t>
            </a:r>
            <a:endParaRPr lang="en-US" sz="1100" dirty="0"/>
          </a:p>
          <a:p>
            <a:pPr indent="0" marL="0">
              <a:spcAft>
                <a:spcPts val="300"/>
              </a:spcAft>
              <a:buNone/>
            </a:pPr>
            <a:r>
              <a:rPr lang="en-US" sz="1100" dirty="0">
                <a:solidFill>
                  <a:srgbClr val="FFFFFF"/>
                </a:solidFill>
                <a:latin typeface="Courier New" pitchFamily="34" charset="0"/>
                <a:ea typeface="Courier New" pitchFamily="34" charset="-122"/>
                <a:cs typeface="Courier New" pitchFamily="34" charset="-120"/>
              </a:rPr>
              <a:t>1  Aggregator.find_events(sport="Biathlon", games="2018 Winter Olympics", min_competitors=73)</a:t>
            </a:r>
            <a:endParaRPr lang="en-US" sz="1100" dirty="0"/>
          </a:p>
          <a:p>
            <a:pPr indent="0" marL="0">
              <a:spcAft>
                <a:spcPts val="300"/>
              </a:spcAft>
              <a:buNone/>
            </a:pPr>
            <a:r>
              <a:rPr lang="en-US" sz="1100" dirty="0">
                <a:solidFill>
                  <a:srgbClr val="F26B21"/>
                </a:solidFill>
                <a:latin typeface="Courier New" pitchFamily="34" charset="0"/>
                <a:ea typeface="Courier New" pitchFamily="34" charset="-122"/>
                <a:cs typeface="Courier New" pitchFamily="34" charset="-120"/>
              </a:rPr>
              <a:t>   -&gt; count: 5   (filter runs inside TigerGraph)</a:t>
            </a:r>
            <a:endParaRPr lang="en-US" sz="1100" dirty="0"/>
          </a:p>
          <a:p>
            <a:pPr indent="0" marL="0">
              <a:spcAft>
                <a:spcPts val="300"/>
              </a:spcAft>
              <a:buNone/>
            </a:pPr>
            <a:r>
              <a:rPr lang="en-US" sz="1100" dirty="0">
                <a:solidFill>
                  <a:srgbClr val="FFFFFF"/>
                </a:solidFill>
                <a:latin typeface="Courier New" pitchFamily="34" charset="0"/>
                <a:ea typeface="Courier New" pitchFamily="34" charset="-122"/>
                <a:cs typeface="Courier New" pitchFamily="34" charset="-120"/>
              </a:rPr>
              <a:t>2  finish(answer="5")</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Tuned honestly, reported honestly</a:t>
            </a:r>
            <a:endParaRPr lang="en-US" sz="3000" dirty="0"/>
          </a:p>
        </p:txBody>
      </p:sp>
      <p:sp>
        <p:nvSpPr>
          <p:cNvPr id="3" name="iteration card"/>
          <p:cNvSpPr/>
          <p:nvPr/>
        </p:nvSpPr>
        <p:spPr>
          <a:xfrm>
            <a:off x="457200" y="1188720"/>
            <a:ext cx="2834640" cy="1737360"/>
          </a:xfrm>
          <a:prstGeom prst="rect">
            <a:avLst/>
          </a:prstGeom>
          <a:solidFill>
            <a:srgbClr val="F3F4F6"/>
          </a:solidFill>
          <a:ln w="12700">
            <a:solidFill>
              <a:srgbClr val="F3F4F6"/>
            </a:solidFill>
            <a:prstDash val="solid"/>
          </a:ln>
        </p:spPr>
      </p:sp>
      <p:sp>
        <p:nvSpPr>
          <p:cNvPr id="4" name="iteration stat"/>
          <p:cNvSpPr txBox="1"/>
          <p:nvPr/>
        </p:nvSpPr>
        <p:spPr>
          <a:xfrm>
            <a:off x="548640" y="1280160"/>
            <a:ext cx="2651760" cy="731520"/>
          </a:xfrm>
          <a:prstGeom prst="rect">
            <a:avLst/>
          </a:prstGeom>
          <a:noFill/>
          <a:ln/>
        </p:spPr>
        <p:txBody>
          <a:bodyPr wrap="square" lIns="0" tIns="0" rIns="0" bIns="0" rtlCol="0" anchor="ctr"/>
          <a:lstStyle/>
          <a:p>
            <a:pPr algn="ctr" indent="0" marL="0">
              <a:buNone/>
            </a:pPr>
            <a:r>
              <a:rPr lang="en-US" sz="2800" b="1" dirty="0">
                <a:solidFill>
                  <a:srgbClr val="F26B21"/>
                </a:solidFill>
                <a:latin typeface="Cambria" pitchFamily="34" charset="0"/>
                <a:ea typeface="Cambria" pitchFamily="34" charset="-122"/>
                <a:cs typeface="Cambria" pitchFamily="34" charset="-120"/>
              </a:rPr>
              <a:t>89 â†’ 96 â†’ 97%</a:t>
            </a:r>
            <a:endParaRPr lang="en-US" sz="2800" dirty="0"/>
          </a:p>
        </p:txBody>
      </p:sp>
      <p:sp>
        <p:nvSpPr>
          <p:cNvPr id="5" name="iteration caption"/>
          <p:cNvSpPr txBox="1"/>
          <p:nvPr/>
        </p:nvSpPr>
        <p:spPr>
          <a:xfrm>
            <a:off x="640080" y="2011680"/>
            <a:ext cx="2468880" cy="868680"/>
          </a:xfrm>
          <a:prstGeom prst="rect">
            <a:avLst/>
          </a:prstGeom>
          <a:noFill/>
          <a:ln/>
        </p:spPr>
        <p:txBody>
          <a:bodyPr wrap="square" lIns="0" tIns="0" rIns="0" bIns="0" rtlCol="0" anchor="t"/>
          <a:lstStyle/>
          <a:p>
            <a:pPr algn="ctr" indent="0" marL="0">
              <a:buNone/>
            </a:pPr>
            <a:r>
              <a:rPr lang="en-US" sz="1200" dirty="0">
                <a:solidFill>
                  <a:srgbClr val="374151"/>
                </a:solidFill>
              </a:rPr>
              <a:t>public accuracy over three agent versions, each fix traced to real failures and archived in the repo</a:t>
            </a:r>
            <a:endParaRPr lang="en-US" sz="1200" dirty="0"/>
          </a:p>
        </p:txBody>
      </p:sp>
      <p:sp>
        <p:nvSpPr>
          <p:cNvPr id="6" name="fix row REST filter bug"/>
          <p:cNvSpPr/>
          <p:nvPr/>
        </p:nvSpPr>
        <p:spPr>
          <a:xfrm>
            <a:off x="3474720" y="1188720"/>
            <a:ext cx="5212080" cy="530352"/>
          </a:xfrm>
          <a:prstGeom prst="rect">
            <a:avLst/>
          </a:prstGeom>
          <a:solidFill>
            <a:srgbClr val="F3F4F6"/>
          </a:solidFill>
          <a:ln w="12700">
            <a:solidFill>
              <a:srgbClr val="F3F4F6"/>
            </a:solidFill>
            <a:prstDash val="solid"/>
          </a:ln>
        </p:spPr>
      </p:sp>
      <p:sp>
        <p:nvSpPr>
          <p:cNvPr id="7" name="fix text REST filter bug"/>
          <p:cNvSpPr txBox="1"/>
          <p:nvPr/>
        </p:nvSpPr>
        <p:spPr>
          <a:xfrm>
            <a:off x="3611880" y="1188720"/>
            <a:ext cx="4983480" cy="530352"/>
          </a:xfrm>
          <a:prstGeom prst="rect">
            <a:avLst/>
          </a:prstGeom>
          <a:noFill/>
          <a:ln/>
        </p:spPr>
        <p:txBody>
          <a:bodyPr wrap="square" lIns="0" tIns="0" rIns="0" bIns="0" rtlCol="0" anchor="ctr"/>
          <a:lstStyle/>
          <a:p>
            <a:pPr indent="0" marL="0">
              <a:buNone/>
            </a:pPr>
            <a:r>
              <a:rPr lang="en-US" sz="1100" b="1" dirty="0">
                <a:solidFill>
                  <a:srgbClr val="111827"/>
                </a:solidFill>
              </a:rPr>
              <a:t>REST filter bug: </a:t>
            </a:r>
            <a:pPr indent="0" marL="0">
              <a:buNone/>
            </a:pPr>
            <a:r>
              <a:rPr lang="en-US" sz="1100" dirty="0">
                <a:solidFill>
                  <a:srgbClr val="374151"/>
                </a:solidFill>
              </a:rPr>
              <a:t>TigerGraph's filter returns nothing for strings with spaces, so those matches moved into Python</a:t>
            </a:r>
            <a:endParaRPr lang="en-US" sz="1100" dirty="0"/>
          </a:p>
        </p:txBody>
      </p:sp>
      <p:sp>
        <p:nvSpPr>
          <p:cNvPr id="8" name="fix row Entity-link loops"/>
          <p:cNvSpPr/>
          <p:nvPr/>
        </p:nvSpPr>
        <p:spPr>
          <a:xfrm>
            <a:off x="3474720" y="1792224"/>
            <a:ext cx="5212080" cy="530352"/>
          </a:xfrm>
          <a:prstGeom prst="rect">
            <a:avLst/>
          </a:prstGeom>
          <a:solidFill>
            <a:srgbClr val="F3F4F6"/>
          </a:solidFill>
          <a:ln w="12700">
            <a:solidFill>
              <a:srgbClr val="F3F4F6"/>
            </a:solidFill>
            <a:prstDash val="solid"/>
          </a:ln>
        </p:spPr>
      </p:sp>
      <p:sp>
        <p:nvSpPr>
          <p:cNvPr id="9" name="fix text Entity-link loops"/>
          <p:cNvSpPr txBox="1"/>
          <p:nvPr/>
        </p:nvSpPr>
        <p:spPr>
          <a:xfrm>
            <a:off x="3611880" y="1792224"/>
            <a:ext cx="4983480" cy="530352"/>
          </a:xfrm>
          <a:prstGeom prst="rect">
            <a:avLst/>
          </a:prstGeom>
          <a:noFill/>
          <a:ln/>
        </p:spPr>
        <p:txBody>
          <a:bodyPr wrap="square" lIns="0" tIns="0" rIns="0" bIns="0" rtlCol="0" anchor="ctr"/>
          <a:lstStyle/>
          <a:p>
            <a:pPr indent="0" marL="0">
              <a:buNone/>
            </a:pPr>
            <a:r>
              <a:rPr lang="en-US" sz="1100" b="1" dirty="0">
                <a:solidFill>
                  <a:srgbClr val="111827"/>
                </a:solidFill>
              </a:rPr>
              <a:t>Entity-link loops: </a:t>
            </a:r>
            <a:pPr indent="0" marL="0">
              <a:buNone/>
            </a:pPr>
            <a:r>
              <a:rPr lang="en-US" sz="1100" dirty="0">
                <a:solidFill>
                  <a:srgbClr val="374151"/>
                </a:solidFill>
              </a:rPr>
              <a:t>Recipes in the prompt plus a duplicate-call guard fixed temporal questions</a:t>
            </a:r>
            <a:endParaRPr lang="en-US" sz="1100" dirty="0"/>
          </a:p>
        </p:txBody>
      </p:sp>
      <p:sp>
        <p:nvSpPr>
          <p:cNvPr id="10" name="fix row Shared venue and date"/>
          <p:cNvSpPr/>
          <p:nvPr/>
        </p:nvSpPr>
        <p:spPr>
          <a:xfrm>
            <a:off x="3474720" y="2395728"/>
            <a:ext cx="5212080" cy="530352"/>
          </a:xfrm>
          <a:prstGeom prst="rect">
            <a:avLst/>
          </a:prstGeom>
          <a:solidFill>
            <a:srgbClr val="F3F4F6"/>
          </a:solidFill>
          <a:ln w="12700">
            <a:solidFill>
              <a:srgbClr val="F3F4F6"/>
            </a:solidFill>
            <a:prstDash val="solid"/>
          </a:ln>
        </p:spPr>
      </p:sp>
      <p:sp>
        <p:nvSpPr>
          <p:cNvPr id="11" name="fix text Shared venue and date"/>
          <p:cNvSpPr txBox="1"/>
          <p:nvPr/>
        </p:nvSpPr>
        <p:spPr>
          <a:xfrm>
            <a:off x="3611880" y="2395728"/>
            <a:ext cx="4983480" cy="530352"/>
          </a:xfrm>
          <a:prstGeom prst="rect">
            <a:avLst/>
          </a:prstGeom>
          <a:noFill/>
          <a:ln/>
        </p:spPr>
        <p:txBody>
          <a:bodyPr wrap="square" lIns="0" tIns="0" rIns="0" bIns="0" rtlCol="0" anchor="ctr"/>
          <a:lstStyle/>
          <a:p>
            <a:pPr indent="0" marL="0">
              <a:buNone/>
            </a:pPr>
            <a:r>
              <a:rPr lang="en-US" sz="1100" b="1" dirty="0">
                <a:solidFill>
                  <a:srgbClr val="111827"/>
                </a:solidFill>
              </a:rPr>
              <a:t>Shared venue and date: </a:t>
            </a:r>
            <a:pPr indent="0" marL="0">
              <a:buNone/>
            </a:pPr>
            <a:r>
              <a:rPr lang="en-US" sz="1100" dirty="0">
                <a:solidFill>
                  <a:srgbClr val="374151"/>
                </a:solidFill>
              </a:rPr>
              <a:t>Several events overlap, so the tool now prefers the exact match</a:t>
            </a:r>
            <a:endParaRPr lang="en-US" sz="1100" dirty="0"/>
          </a:p>
        </p:txBody>
      </p:sp>
      <p:sp>
        <p:nvSpPr>
          <p:cNvPr id="12" name="negative card"/>
          <p:cNvSpPr/>
          <p:nvPr/>
        </p:nvSpPr>
        <p:spPr>
          <a:xfrm>
            <a:off x="457200" y="3154680"/>
            <a:ext cx="4023360" cy="1371600"/>
          </a:xfrm>
          <a:prstGeom prst="rect">
            <a:avLst/>
          </a:prstGeom>
          <a:solidFill>
            <a:srgbClr val="FFFFFF"/>
          </a:solidFill>
          <a:ln w="19050">
            <a:solidFill>
              <a:srgbClr val="C53030"/>
            </a:solidFill>
            <a:prstDash val="solid"/>
          </a:ln>
        </p:spPr>
      </p:sp>
      <p:sp>
        <p:nvSpPr>
          <p:cNvPr id="13" name="negative head"/>
          <p:cNvSpPr txBox="1"/>
          <p:nvPr/>
        </p:nvSpPr>
        <p:spPr>
          <a:xfrm>
            <a:off x="640080" y="3246120"/>
            <a:ext cx="3657600" cy="292608"/>
          </a:xfrm>
          <a:prstGeom prst="rect">
            <a:avLst/>
          </a:prstGeom>
          <a:noFill/>
          <a:ln/>
        </p:spPr>
        <p:txBody>
          <a:bodyPr wrap="square" lIns="0" tIns="0" rIns="0" bIns="0" rtlCol="0" anchor="ctr"/>
          <a:lstStyle/>
          <a:p>
            <a:pPr indent="0" marL="0">
              <a:buNone/>
            </a:pPr>
            <a:r>
              <a:rPr lang="en-US" sz="1400" b="1" dirty="0">
                <a:solidFill>
                  <a:srgbClr val="C53030"/>
                </a:solidFill>
              </a:rPr>
              <a:t>Negative result</a:t>
            </a:r>
            <a:endParaRPr lang="en-US" sz="1400" dirty="0"/>
          </a:p>
        </p:txBody>
      </p:sp>
      <p:sp>
        <p:nvSpPr>
          <p:cNvPr id="14" name="negative body"/>
          <p:cNvSpPr txBox="1"/>
          <p:nvPr/>
        </p:nvSpPr>
        <p:spPr>
          <a:xfrm>
            <a:off x="640080" y="3566160"/>
            <a:ext cx="3657600" cy="914400"/>
          </a:xfrm>
          <a:prstGeom prst="rect">
            <a:avLst/>
          </a:prstGeom>
          <a:noFill/>
          <a:ln/>
        </p:spPr>
        <p:txBody>
          <a:bodyPr wrap="square" lIns="0" tIns="0" rIns="0" bIns="0" rtlCol="0" anchor="t"/>
          <a:lstStyle/>
          <a:p>
            <a:pPr indent="0" marL="0">
              <a:buNone/>
            </a:pPr>
            <a:r>
              <a:rPr lang="en-US" sz="1300" dirty="0">
                <a:solidFill>
                  <a:srgbClr val="374151"/>
                </a:solidFill>
              </a:rPr>
              <a:t>An adaptive router that skips the agent for easy questions saved almost nothing (3,019 vs 3,024 tokens) and lost 4 points. We report it and keep the agent always on.</a:t>
            </a:r>
            <a:endParaRPr lang="en-US" sz="1300" dirty="0"/>
          </a:p>
        </p:txBody>
      </p:sp>
      <p:sp>
        <p:nvSpPr>
          <p:cNvPr id="15" name="limits card"/>
          <p:cNvSpPr/>
          <p:nvPr/>
        </p:nvSpPr>
        <p:spPr>
          <a:xfrm>
            <a:off x="4663440" y="3154680"/>
            <a:ext cx="4023360" cy="1371600"/>
          </a:xfrm>
          <a:prstGeom prst="rect">
            <a:avLst/>
          </a:prstGeom>
          <a:solidFill>
            <a:srgbClr val="FFFFFF"/>
          </a:solidFill>
          <a:ln w="19050">
            <a:solidFill>
              <a:srgbClr val="6B7280"/>
            </a:solidFill>
            <a:prstDash val="solid"/>
          </a:ln>
        </p:spPr>
      </p:sp>
      <p:sp>
        <p:nvSpPr>
          <p:cNvPr id="16" name="limits head"/>
          <p:cNvSpPr txBox="1"/>
          <p:nvPr/>
        </p:nvSpPr>
        <p:spPr>
          <a:xfrm>
            <a:off x="4846320" y="3246120"/>
            <a:ext cx="3657600" cy="292608"/>
          </a:xfrm>
          <a:prstGeom prst="rect">
            <a:avLst/>
          </a:prstGeom>
          <a:noFill/>
          <a:ln/>
        </p:spPr>
        <p:txBody>
          <a:bodyPr wrap="square" lIns="0" tIns="0" rIns="0" bIns="0" rtlCol="0" anchor="ctr"/>
          <a:lstStyle/>
          <a:p>
            <a:pPr indent="0" marL="0">
              <a:buNone/>
            </a:pPr>
            <a:r>
              <a:rPr lang="en-US" sz="1400" b="1" dirty="0">
                <a:solidFill>
                  <a:srgbClr val="6B7280"/>
                </a:solidFill>
              </a:rPr>
              <a:t>Limits</a:t>
            </a:r>
            <a:endParaRPr lang="en-US" sz="1400" dirty="0"/>
          </a:p>
        </p:txBody>
      </p:sp>
      <p:sp>
        <p:nvSpPr>
          <p:cNvPr id="17" name="limits body"/>
          <p:cNvSpPr txBox="1"/>
          <p:nvPr/>
        </p:nvSpPr>
        <p:spPr>
          <a:xfrm>
            <a:off x="4846320" y="3566160"/>
            <a:ext cx="3657600" cy="914400"/>
          </a:xfrm>
          <a:prstGeom prst="rect">
            <a:avLst/>
          </a:prstGeom>
          <a:noFill/>
          <a:ln/>
        </p:spPr>
        <p:txBody>
          <a:bodyPr wrap="square" lIns="0" tIns="0" rIns="0" bIns="0" rtlCol="0" anchor="t"/>
          <a:lstStyle/>
          <a:p>
            <a:pPr indent="0" marL="0">
              <a:buNone/>
            </a:pPr>
            <a:r>
              <a:rPr lang="en-US" sz="1300" dirty="0">
                <a:solidFill>
                  <a:srgbClr val="374151"/>
                </a:solidFill>
              </a:rPr>
              <a:t>We tuned on the public set, so the hidden score will likely be lower. Three public misses remain, two caused by ambiguous questions. Vectors live in a local index.</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rPr>
              <a:t>Built for the judging criteria</a:t>
            </a:r>
            <a:endParaRPr lang="en-US" sz="3000" dirty="0"/>
          </a:p>
        </p:txBody>
      </p:sp>
      <p:sp>
        <p:nvSpPr>
          <p:cNvPr id="3" name="weight pill Investigation accuracy"/>
          <p:cNvSpPr/>
          <p:nvPr/>
        </p:nvSpPr>
        <p:spPr>
          <a:xfrm>
            <a:off x="457200" y="1133856"/>
            <a:ext cx="685800" cy="347472"/>
          </a:xfrm>
          <a:prstGeom prst="roundRect">
            <a:avLst>
              <a:gd name="adj" fmla="val 50000"/>
            </a:avLst>
          </a:prstGeom>
          <a:solidFill>
            <a:srgbClr val="F26B21"/>
          </a:solidFill>
          <a:ln w="12700">
            <a:solidFill>
              <a:srgbClr val="F26B21"/>
            </a:solidFill>
            <a:prstDash val="solid"/>
          </a:ln>
        </p:spPr>
      </p:sp>
      <p:sp>
        <p:nvSpPr>
          <p:cNvPr id="4" name="weight Investigation accuracy"/>
          <p:cNvSpPr txBox="1"/>
          <p:nvPr/>
        </p:nvSpPr>
        <p:spPr>
          <a:xfrm>
            <a:off x="457200" y="1133856"/>
            <a:ext cx="685800" cy="347472"/>
          </a:xfrm>
          <a:prstGeom prst="rect">
            <a:avLst/>
          </a:prstGeom>
          <a:noFill/>
          <a:ln/>
        </p:spPr>
        <p:txBody>
          <a:bodyPr wrap="square" lIns="0" tIns="0" rIns="0" bIns="0" rtlCol="0" anchor="ctr"/>
          <a:lstStyle/>
          <a:p>
            <a:pPr algn="ctr" indent="0" marL="0">
              <a:buNone/>
            </a:pPr>
            <a:r>
              <a:rPr lang="en-US" sz="1300" b="1" dirty="0">
                <a:solidFill>
                  <a:srgbClr val="FFFFFF"/>
                </a:solidFill>
              </a:rPr>
              <a:t>30%</a:t>
            </a:r>
            <a:endParaRPr lang="en-US" sz="1300" dirty="0"/>
          </a:p>
        </p:txBody>
      </p:sp>
      <p:sp>
        <p:nvSpPr>
          <p:cNvPr id="5" name="criterion Investigation accuracy"/>
          <p:cNvSpPr txBox="1"/>
          <p:nvPr/>
        </p:nvSpPr>
        <p:spPr>
          <a:xfrm>
            <a:off x="1325880" y="1097280"/>
            <a:ext cx="2651760" cy="420624"/>
          </a:xfrm>
          <a:prstGeom prst="rect">
            <a:avLst/>
          </a:prstGeom>
          <a:noFill/>
          <a:ln/>
        </p:spPr>
        <p:txBody>
          <a:bodyPr wrap="square" lIns="0" tIns="0" rIns="0" bIns="0" rtlCol="0" anchor="ctr"/>
          <a:lstStyle/>
          <a:p>
            <a:pPr indent="0" marL="0">
              <a:buNone/>
            </a:pPr>
            <a:r>
              <a:rPr lang="en-US" sz="1400" b="1" dirty="0">
                <a:solidFill>
                  <a:srgbClr val="FFFFFF"/>
                </a:solidFill>
              </a:rPr>
              <a:t>Investigation accuracy</a:t>
            </a:r>
            <a:endParaRPr lang="en-US" sz="1400" dirty="0"/>
          </a:p>
        </p:txBody>
      </p:sp>
      <p:sp>
        <p:nvSpPr>
          <p:cNvPr id="6" name="evidence Investigation accuracy"/>
          <p:cNvSpPr txBox="1"/>
          <p:nvPr/>
        </p:nvSpPr>
        <p:spPr>
          <a:xfrm>
            <a:off x="4023360" y="1097280"/>
            <a:ext cx="4663440" cy="420624"/>
          </a:xfrm>
          <a:prstGeom prst="rect">
            <a:avLst/>
          </a:prstGeom>
          <a:noFill/>
          <a:ln/>
        </p:spPr>
        <p:txBody>
          <a:bodyPr wrap="square" lIns="0" tIns="0" rIns="0" bIns="0" rtlCol="0" anchor="ctr"/>
          <a:lstStyle/>
          <a:p>
            <a:pPr indent="0" marL="0">
              <a:buNone/>
            </a:pPr>
            <a:r>
              <a:rPr lang="en-US" sz="1300" dirty="0">
                <a:solidFill>
                  <a:srgbClr val="D1D5DB"/>
                </a:solidFill>
              </a:rPr>
              <a:t>97% vs 53% for RAG; 21 of 21 on counts</a:t>
            </a:r>
            <a:endParaRPr lang="en-US" sz="1300" dirty="0"/>
          </a:p>
        </p:txBody>
      </p:sp>
      <p:sp>
        <p:nvSpPr>
          <p:cNvPr id="7" name="weight pill Evidence and explainability"/>
          <p:cNvSpPr/>
          <p:nvPr/>
        </p:nvSpPr>
        <p:spPr>
          <a:xfrm>
            <a:off x="457200" y="1591056"/>
            <a:ext cx="685800" cy="347472"/>
          </a:xfrm>
          <a:prstGeom prst="roundRect">
            <a:avLst>
              <a:gd name="adj" fmla="val 50000"/>
            </a:avLst>
          </a:prstGeom>
          <a:solidFill>
            <a:srgbClr val="F26B21"/>
          </a:solidFill>
          <a:ln w="12700">
            <a:solidFill>
              <a:srgbClr val="F26B21"/>
            </a:solidFill>
            <a:prstDash val="solid"/>
          </a:ln>
        </p:spPr>
      </p:sp>
      <p:sp>
        <p:nvSpPr>
          <p:cNvPr id="8" name="weight Evidence and explainability"/>
          <p:cNvSpPr txBox="1"/>
          <p:nvPr/>
        </p:nvSpPr>
        <p:spPr>
          <a:xfrm>
            <a:off x="457200" y="1591056"/>
            <a:ext cx="685800" cy="347472"/>
          </a:xfrm>
          <a:prstGeom prst="rect">
            <a:avLst/>
          </a:prstGeom>
          <a:noFill/>
          <a:ln/>
        </p:spPr>
        <p:txBody>
          <a:bodyPr wrap="square" lIns="0" tIns="0" rIns="0" bIns="0" rtlCol="0" anchor="ctr"/>
          <a:lstStyle/>
          <a:p>
            <a:pPr algn="ctr" indent="0" marL="0">
              <a:buNone/>
            </a:pPr>
            <a:r>
              <a:rPr lang="en-US" sz="1300" b="1" dirty="0">
                <a:solidFill>
                  <a:srgbClr val="FFFFFF"/>
                </a:solidFill>
              </a:rPr>
              <a:t>15%</a:t>
            </a:r>
            <a:endParaRPr lang="en-US" sz="1300" dirty="0"/>
          </a:p>
        </p:txBody>
      </p:sp>
      <p:sp>
        <p:nvSpPr>
          <p:cNvPr id="9" name="criterion Evidence and explainability"/>
          <p:cNvSpPr txBox="1"/>
          <p:nvPr/>
        </p:nvSpPr>
        <p:spPr>
          <a:xfrm>
            <a:off x="1325880" y="1554480"/>
            <a:ext cx="2651760" cy="420624"/>
          </a:xfrm>
          <a:prstGeom prst="rect">
            <a:avLst/>
          </a:prstGeom>
          <a:noFill/>
          <a:ln/>
        </p:spPr>
        <p:txBody>
          <a:bodyPr wrap="square" lIns="0" tIns="0" rIns="0" bIns="0" rtlCol="0" anchor="ctr"/>
          <a:lstStyle/>
          <a:p>
            <a:pPr indent="0" marL="0">
              <a:buNone/>
            </a:pPr>
            <a:r>
              <a:rPr lang="en-US" sz="1400" b="1" dirty="0">
                <a:solidFill>
                  <a:srgbClr val="FFFFFF"/>
                </a:solidFill>
              </a:rPr>
              <a:t>Evidence and explainability</a:t>
            </a:r>
            <a:endParaRPr lang="en-US" sz="1400" dirty="0"/>
          </a:p>
        </p:txBody>
      </p:sp>
      <p:sp>
        <p:nvSpPr>
          <p:cNvPr id="10" name="evidence Evidence and explainability"/>
          <p:cNvSpPr txBox="1"/>
          <p:nvPr/>
        </p:nvSpPr>
        <p:spPr>
          <a:xfrm>
            <a:off x="4023360" y="1554480"/>
            <a:ext cx="4663440" cy="420624"/>
          </a:xfrm>
          <a:prstGeom prst="rect">
            <a:avLst/>
          </a:prstGeom>
          <a:noFill/>
          <a:ln/>
        </p:spPr>
        <p:txBody>
          <a:bodyPr wrap="square" lIns="0" tIns="0" rIns="0" bIns="0" rtlCol="0" anchor="ctr"/>
          <a:lstStyle/>
          <a:p>
            <a:pPr indent="0" marL="0">
              <a:buNone/>
            </a:pPr>
            <a:r>
              <a:rPr lang="en-US" sz="1300" dirty="0">
                <a:solidFill>
                  <a:srgbClr val="D1D5DB"/>
                </a:solidFill>
              </a:rPr>
              <a:t>Full trace per answer: tools, arguments, results</a:t>
            </a:r>
            <a:endParaRPr lang="en-US" sz="1300" dirty="0"/>
          </a:p>
        </p:txBody>
      </p:sp>
      <p:sp>
        <p:nvSpPr>
          <p:cNvPr id="11" name="weight pill Agentic effectiveness"/>
          <p:cNvSpPr/>
          <p:nvPr/>
        </p:nvSpPr>
        <p:spPr>
          <a:xfrm>
            <a:off x="457200" y="2048256"/>
            <a:ext cx="685800" cy="347472"/>
          </a:xfrm>
          <a:prstGeom prst="roundRect">
            <a:avLst>
              <a:gd name="adj" fmla="val 50000"/>
            </a:avLst>
          </a:prstGeom>
          <a:solidFill>
            <a:srgbClr val="F26B21"/>
          </a:solidFill>
          <a:ln w="12700">
            <a:solidFill>
              <a:srgbClr val="F26B21"/>
            </a:solidFill>
            <a:prstDash val="solid"/>
          </a:ln>
        </p:spPr>
      </p:sp>
      <p:sp>
        <p:nvSpPr>
          <p:cNvPr id="12" name="weight Agentic effectiveness"/>
          <p:cNvSpPr txBox="1"/>
          <p:nvPr/>
        </p:nvSpPr>
        <p:spPr>
          <a:xfrm>
            <a:off x="457200" y="2048256"/>
            <a:ext cx="685800" cy="347472"/>
          </a:xfrm>
          <a:prstGeom prst="rect">
            <a:avLst/>
          </a:prstGeom>
          <a:noFill/>
          <a:ln/>
        </p:spPr>
        <p:txBody>
          <a:bodyPr wrap="square" lIns="0" tIns="0" rIns="0" bIns="0" rtlCol="0" anchor="ctr"/>
          <a:lstStyle/>
          <a:p>
            <a:pPr algn="ctr" indent="0" marL="0">
              <a:buNone/>
            </a:pPr>
            <a:r>
              <a:rPr lang="en-US" sz="1300" b="1" dirty="0">
                <a:solidFill>
                  <a:srgbClr val="FFFFFF"/>
                </a:solidFill>
              </a:rPr>
              <a:t>15%</a:t>
            </a:r>
            <a:endParaRPr lang="en-US" sz="1300" dirty="0"/>
          </a:p>
        </p:txBody>
      </p:sp>
      <p:sp>
        <p:nvSpPr>
          <p:cNvPr id="13" name="criterion Agentic effectiveness"/>
          <p:cNvSpPr txBox="1"/>
          <p:nvPr/>
        </p:nvSpPr>
        <p:spPr>
          <a:xfrm>
            <a:off x="1325880" y="2011680"/>
            <a:ext cx="2651760" cy="420624"/>
          </a:xfrm>
          <a:prstGeom prst="rect">
            <a:avLst/>
          </a:prstGeom>
          <a:noFill/>
          <a:ln/>
        </p:spPr>
        <p:txBody>
          <a:bodyPr wrap="square" lIns="0" tIns="0" rIns="0" bIns="0" rtlCol="0" anchor="ctr"/>
          <a:lstStyle/>
          <a:p>
            <a:pPr indent="0" marL="0">
              <a:buNone/>
            </a:pPr>
            <a:r>
              <a:rPr lang="en-US" sz="1400" b="1" dirty="0">
                <a:solidFill>
                  <a:srgbClr val="FFFFFF"/>
                </a:solidFill>
              </a:rPr>
              <a:t>Agentic effectiveness</a:t>
            </a:r>
            <a:endParaRPr lang="en-US" sz="1400" dirty="0"/>
          </a:p>
        </p:txBody>
      </p:sp>
      <p:sp>
        <p:nvSpPr>
          <p:cNvPr id="14" name="evidence Agentic effectiveness"/>
          <p:cNvSpPr txBox="1"/>
          <p:nvPr/>
        </p:nvSpPr>
        <p:spPr>
          <a:xfrm>
            <a:off x="4023360" y="2011680"/>
            <a:ext cx="4663440" cy="420624"/>
          </a:xfrm>
          <a:prstGeom prst="rect">
            <a:avLst/>
          </a:prstGeom>
          <a:noFill/>
          <a:ln/>
        </p:spPr>
        <p:txBody>
          <a:bodyPr wrap="square" lIns="0" tIns="0" rIns="0" bIns="0" rtlCol="0" anchor="ctr"/>
          <a:lstStyle/>
          <a:p>
            <a:pPr indent="0" marL="0">
              <a:buNone/>
            </a:pPr>
            <a:r>
              <a:rPr lang="en-US" sz="1300" dirty="0">
                <a:solidFill>
                  <a:srgbClr val="D1D5DB"/>
                </a:solidFill>
              </a:rPr>
              <a:t>2.4 steps, close to RAG's token budget</a:t>
            </a:r>
            <a:endParaRPr lang="en-US" sz="1300" dirty="0"/>
          </a:p>
        </p:txBody>
      </p:sp>
      <p:sp>
        <p:nvSpPr>
          <p:cNvPr id="15" name="weight pill Engineering quality"/>
          <p:cNvSpPr/>
          <p:nvPr/>
        </p:nvSpPr>
        <p:spPr>
          <a:xfrm>
            <a:off x="457200" y="2505456"/>
            <a:ext cx="685800" cy="347472"/>
          </a:xfrm>
          <a:prstGeom prst="roundRect">
            <a:avLst>
              <a:gd name="adj" fmla="val 50000"/>
            </a:avLst>
          </a:prstGeom>
          <a:solidFill>
            <a:srgbClr val="F26B21"/>
          </a:solidFill>
          <a:ln w="12700">
            <a:solidFill>
              <a:srgbClr val="F26B21"/>
            </a:solidFill>
            <a:prstDash val="solid"/>
          </a:ln>
        </p:spPr>
      </p:sp>
      <p:sp>
        <p:nvSpPr>
          <p:cNvPr id="16" name="weight Engineering quality"/>
          <p:cNvSpPr txBox="1"/>
          <p:nvPr/>
        </p:nvSpPr>
        <p:spPr>
          <a:xfrm>
            <a:off x="457200" y="2505456"/>
            <a:ext cx="685800" cy="347472"/>
          </a:xfrm>
          <a:prstGeom prst="rect">
            <a:avLst/>
          </a:prstGeom>
          <a:noFill/>
          <a:ln/>
        </p:spPr>
        <p:txBody>
          <a:bodyPr wrap="square" lIns="0" tIns="0" rIns="0" bIns="0" rtlCol="0" anchor="ctr"/>
          <a:lstStyle/>
          <a:p>
            <a:pPr algn="ctr" indent="0" marL="0">
              <a:buNone/>
            </a:pPr>
            <a:r>
              <a:rPr lang="en-US" sz="1300" b="1" dirty="0">
                <a:solidFill>
                  <a:srgbClr val="FFFFFF"/>
                </a:solidFill>
              </a:rPr>
              <a:t>15%</a:t>
            </a:r>
            <a:endParaRPr lang="en-US" sz="1300" dirty="0"/>
          </a:p>
        </p:txBody>
      </p:sp>
      <p:sp>
        <p:nvSpPr>
          <p:cNvPr id="17" name="criterion Engineering quality"/>
          <p:cNvSpPr txBox="1"/>
          <p:nvPr/>
        </p:nvSpPr>
        <p:spPr>
          <a:xfrm>
            <a:off x="1325880" y="2468880"/>
            <a:ext cx="2651760" cy="420624"/>
          </a:xfrm>
          <a:prstGeom prst="rect">
            <a:avLst/>
          </a:prstGeom>
          <a:noFill/>
          <a:ln/>
        </p:spPr>
        <p:txBody>
          <a:bodyPr wrap="square" lIns="0" tIns="0" rIns="0" bIns="0" rtlCol="0" anchor="ctr"/>
          <a:lstStyle/>
          <a:p>
            <a:pPr indent="0" marL="0">
              <a:buNone/>
            </a:pPr>
            <a:r>
              <a:rPr lang="en-US" sz="1400" b="1" dirty="0">
                <a:solidFill>
                  <a:srgbClr val="FFFFFF"/>
                </a:solidFill>
              </a:rPr>
              <a:t>Engineering quality</a:t>
            </a:r>
            <a:endParaRPr lang="en-US" sz="1400" dirty="0"/>
          </a:p>
        </p:txBody>
      </p:sp>
      <p:sp>
        <p:nvSpPr>
          <p:cNvPr id="18" name="evidence Engineering quality"/>
          <p:cNvSpPr txBox="1"/>
          <p:nvPr/>
        </p:nvSpPr>
        <p:spPr>
          <a:xfrm>
            <a:off x="4023360" y="2468880"/>
            <a:ext cx="4663440" cy="420624"/>
          </a:xfrm>
          <a:prstGeom prst="rect">
            <a:avLst/>
          </a:prstGeom>
          <a:noFill/>
          <a:ln/>
        </p:spPr>
        <p:txBody>
          <a:bodyPr wrap="square" lIns="0" tIns="0" rIns="0" bIns="0" rtlCol="0" anchor="ctr"/>
          <a:lstStyle/>
          <a:p>
            <a:pPr indent="0" marL="0">
              <a:buNone/>
            </a:pPr>
            <a:r>
              <a:rPr lang="en-US" sz="1300" dirty="0">
                <a:solidFill>
                  <a:srgbClr val="D1D5DB"/>
                </a:solidFill>
              </a:rPr>
              <a:t>Reproducible, resumable, metered, documented</a:t>
            </a:r>
            <a:endParaRPr lang="en-US" sz="1300" dirty="0"/>
          </a:p>
        </p:txBody>
      </p:sp>
      <p:sp>
        <p:nvSpPr>
          <p:cNvPr id="19" name="weight pill Innovation"/>
          <p:cNvSpPr/>
          <p:nvPr/>
        </p:nvSpPr>
        <p:spPr>
          <a:xfrm>
            <a:off x="457200" y="2962656"/>
            <a:ext cx="685800" cy="347472"/>
          </a:xfrm>
          <a:prstGeom prst="roundRect">
            <a:avLst>
              <a:gd name="adj" fmla="val 50000"/>
            </a:avLst>
          </a:prstGeom>
          <a:solidFill>
            <a:srgbClr val="F26B21"/>
          </a:solidFill>
          <a:ln w="12700">
            <a:solidFill>
              <a:srgbClr val="F26B21"/>
            </a:solidFill>
            <a:prstDash val="solid"/>
          </a:ln>
        </p:spPr>
      </p:sp>
      <p:sp>
        <p:nvSpPr>
          <p:cNvPr id="20" name="weight Innovation"/>
          <p:cNvSpPr txBox="1"/>
          <p:nvPr/>
        </p:nvSpPr>
        <p:spPr>
          <a:xfrm>
            <a:off x="457200" y="2962656"/>
            <a:ext cx="685800" cy="347472"/>
          </a:xfrm>
          <a:prstGeom prst="rect">
            <a:avLst/>
          </a:prstGeom>
          <a:noFill/>
          <a:ln/>
        </p:spPr>
        <p:txBody>
          <a:bodyPr wrap="square" lIns="0" tIns="0" rIns="0" bIns="0" rtlCol="0" anchor="ctr"/>
          <a:lstStyle/>
          <a:p>
            <a:pPr algn="ctr" indent="0" marL="0">
              <a:buNone/>
            </a:pPr>
            <a:r>
              <a:rPr lang="en-US" sz="1300" b="1" dirty="0">
                <a:solidFill>
                  <a:srgbClr val="FFFFFF"/>
                </a:solidFill>
              </a:rPr>
              <a:t>15%</a:t>
            </a:r>
            <a:endParaRPr lang="en-US" sz="1300" dirty="0"/>
          </a:p>
        </p:txBody>
      </p:sp>
      <p:sp>
        <p:nvSpPr>
          <p:cNvPr id="21" name="criterion Innovation"/>
          <p:cNvSpPr txBox="1"/>
          <p:nvPr/>
        </p:nvSpPr>
        <p:spPr>
          <a:xfrm>
            <a:off x="1325880" y="2926080"/>
            <a:ext cx="2651760" cy="420624"/>
          </a:xfrm>
          <a:prstGeom prst="rect">
            <a:avLst/>
          </a:prstGeom>
          <a:noFill/>
          <a:ln/>
        </p:spPr>
        <p:txBody>
          <a:bodyPr wrap="square" lIns="0" tIns="0" rIns="0" bIns="0" rtlCol="0" anchor="ctr"/>
          <a:lstStyle/>
          <a:p>
            <a:pPr indent="0" marL="0">
              <a:buNone/>
            </a:pPr>
            <a:r>
              <a:rPr lang="en-US" sz="1400" b="1" dirty="0">
                <a:solidFill>
                  <a:srgbClr val="FFFFFF"/>
                </a:solidFill>
              </a:rPr>
              <a:t>Innovation</a:t>
            </a:r>
            <a:endParaRPr lang="en-US" sz="1400" dirty="0"/>
          </a:p>
        </p:txBody>
      </p:sp>
      <p:sp>
        <p:nvSpPr>
          <p:cNvPr id="22" name="evidence Innovation"/>
          <p:cNvSpPr txBox="1"/>
          <p:nvPr/>
        </p:nvSpPr>
        <p:spPr>
          <a:xfrm>
            <a:off x="4023360" y="2926080"/>
            <a:ext cx="4663440" cy="420624"/>
          </a:xfrm>
          <a:prstGeom prst="rect">
            <a:avLst/>
          </a:prstGeom>
          <a:noFill/>
          <a:ln/>
        </p:spPr>
        <p:txBody>
          <a:bodyPr wrap="square" lIns="0" tIns="0" rIns="0" bIns="0" rtlCol="0" anchor="ctr"/>
          <a:lstStyle/>
          <a:p>
            <a:pPr indent="0" marL="0">
              <a:buNone/>
            </a:pPr>
            <a:r>
              <a:rPr lang="en-US" sz="1300" dirty="0">
                <a:solidFill>
                  <a:srgbClr val="D1D5DB"/>
                </a:solidFill>
              </a:rPr>
              <a:t>Push-down aggregation, exact disambiguation</a:t>
            </a:r>
            <a:endParaRPr lang="en-US" sz="1300" dirty="0"/>
          </a:p>
        </p:txBody>
      </p:sp>
      <p:sp>
        <p:nvSpPr>
          <p:cNvPr id="23" name="weight pill Presentation"/>
          <p:cNvSpPr/>
          <p:nvPr/>
        </p:nvSpPr>
        <p:spPr>
          <a:xfrm>
            <a:off x="457200" y="3419856"/>
            <a:ext cx="685800" cy="347472"/>
          </a:xfrm>
          <a:prstGeom prst="roundRect">
            <a:avLst>
              <a:gd name="adj" fmla="val 50000"/>
            </a:avLst>
          </a:prstGeom>
          <a:solidFill>
            <a:srgbClr val="F26B21"/>
          </a:solidFill>
          <a:ln w="12700">
            <a:solidFill>
              <a:srgbClr val="F26B21"/>
            </a:solidFill>
            <a:prstDash val="solid"/>
          </a:ln>
        </p:spPr>
      </p:sp>
      <p:sp>
        <p:nvSpPr>
          <p:cNvPr id="24" name="weight Presentation"/>
          <p:cNvSpPr txBox="1"/>
          <p:nvPr/>
        </p:nvSpPr>
        <p:spPr>
          <a:xfrm>
            <a:off x="457200" y="3419856"/>
            <a:ext cx="685800" cy="347472"/>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25" name="criterion Presentation"/>
          <p:cNvSpPr txBox="1"/>
          <p:nvPr/>
        </p:nvSpPr>
        <p:spPr>
          <a:xfrm>
            <a:off x="1325880" y="3383280"/>
            <a:ext cx="2651760" cy="420624"/>
          </a:xfrm>
          <a:prstGeom prst="rect">
            <a:avLst/>
          </a:prstGeom>
          <a:noFill/>
          <a:ln/>
        </p:spPr>
        <p:txBody>
          <a:bodyPr wrap="square" lIns="0" tIns="0" rIns="0" bIns="0" rtlCol="0" anchor="ctr"/>
          <a:lstStyle/>
          <a:p>
            <a:pPr indent="0" marL="0">
              <a:buNone/>
            </a:pPr>
            <a:r>
              <a:rPr lang="en-US" sz="1400" b="1" dirty="0">
                <a:solidFill>
                  <a:srgbClr val="FFFFFF"/>
                </a:solidFill>
              </a:rPr>
              <a:t>Presentation</a:t>
            </a:r>
            <a:endParaRPr lang="en-US" sz="1400" dirty="0"/>
          </a:p>
        </p:txBody>
      </p:sp>
      <p:sp>
        <p:nvSpPr>
          <p:cNvPr id="26" name="evidence Presentation"/>
          <p:cNvSpPr txBox="1"/>
          <p:nvPr/>
        </p:nvSpPr>
        <p:spPr>
          <a:xfrm>
            <a:off x="4023360" y="3383280"/>
            <a:ext cx="4663440" cy="420624"/>
          </a:xfrm>
          <a:prstGeom prst="rect">
            <a:avLst/>
          </a:prstGeom>
          <a:noFill/>
          <a:ln/>
        </p:spPr>
        <p:txBody>
          <a:bodyPr wrap="square" lIns="0" tIns="0" rIns="0" bIns="0" rtlCol="0" anchor="ctr"/>
          <a:lstStyle/>
          <a:p>
            <a:pPr indent="0" marL="0">
              <a:buNone/>
            </a:pPr>
            <a:r>
              <a:rPr lang="en-US" sz="1300" dirty="0">
                <a:solidFill>
                  <a:srgbClr val="D1D5DB"/>
                </a:solidFill>
              </a:rPr>
              <a:t>Interactive dashboard with every agent trace</a:t>
            </a:r>
            <a:endParaRPr lang="en-US" sz="1300" dirty="0"/>
          </a:p>
        </p:txBody>
      </p:sp>
      <p:sp>
        <p:nvSpPr>
          <p:cNvPr id="27" name="takeaway"/>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2400" b="1" dirty="0">
                <a:solidFill>
                  <a:srgbClr val="F26B21"/>
                </a:solidFill>
                <a:latin typeface="Cambria" pitchFamily="34" charset="0"/>
                <a:ea typeface="Cambria" pitchFamily="34" charset="-122"/>
                <a:cs typeface="Cambria" pitchFamily="34" charset="-120"/>
              </a:rPr>
              <a:t>Use an agent where the question needs one.</a:t>
            </a:r>
            <a:endParaRPr lang="en-US" sz="2400" dirty="0"/>
          </a:p>
        </p:txBody>
      </p:sp>
      <p:sp>
        <p:nvSpPr>
          <p:cNvPr id="28" name="tagline"/>
          <p:cNvSpPr txBox="1"/>
          <p:nvPr/>
        </p:nvSpPr>
        <p:spPr>
          <a:xfrm>
            <a:off x="457200" y="4480560"/>
            <a:ext cx="8229600" cy="320040"/>
          </a:xfrm>
          <a:prstGeom prst="rect">
            <a:avLst/>
          </a:prstGeom>
          <a:noFill/>
          <a:ln/>
        </p:spPr>
        <p:txBody>
          <a:bodyPr wrap="square" lIns="0" tIns="0" rIns="0" bIns="0" rtlCol="0" anchor="ctr"/>
          <a:lstStyle/>
          <a:p>
            <a:pPr indent="0" marL="0">
              <a:buNone/>
            </a:pPr>
            <a:r>
              <a:rPr lang="en-US" sz="1400" dirty="0">
                <a:solidFill>
                  <a:srgbClr val="D1D5DB"/>
                </a:solidFill>
              </a:rPr>
              <a:t>Build it. Benchmark it. Prove when agents matter.</a:t>
            </a:r>
            <a:endParaRPr lang="en-US" sz="1400" dirty="0"/>
          </a:p>
        </p:txBody>
      </p:sp>
    </p:spTree>
  </p:cSld>
  <p:clrMapOvr>
    <a:masterClrMapping/>
  </p:clrMapOvr>
</p:sld>
</file>

<file path=ppt/theme/theme1.xml><?xml version="1.0" encoding="utf-8"?>
<a:theme xmlns:a="http://schemas.openxmlformats.org/drawingml/2006/main" name="Agentic GraphRAG">
  <a:themeElements>
    <a:clrScheme name="Agentic GraphRAG">
      <a:dk1>
        <a:srgbClr val="111827"/>
      </a:dk1>
      <a:lt1>
        <a:srgbClr val="FFFFFF"/>
      </a:lt1>
      <a:dk2>
        <a:srgbClr val="1F2937"/>
      </a:dk2>
      <a:lt2>
        <a:srgbClr val="F3F4F6"/>
      </a:lt2>
      <a:accent1>
        <a:srgbClr val="F26B21"/>
      </a:accent1>
      <a:accent2>
        <a:srgbClr val="2B6CB0"/>
      </a:accent2>
      <a:accent3>
        <a:srgbClr val="8A8A85"/>
      </a:accent3>
      <a:accent4>
        <a:srgbClr val="2F855A"/>
      </a:accent4>
      <a:accent5>
        <a:srgbClr val="C53030"/>
      </a:accent5>
      <a:accent6>
        <a:srgbClr val="6B7280"/>
      </a:accent6>
      <a:hlink>
        <a:srgbClr val="2B6CB0"/>
      </a:hlink>
      <a:folHlink>
        <a:srgbClr val="6B7280"/>
      </a:folHlink>
    </a:clrScheme>
    <a:fontScheme name="Agentic GraphRA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MedalMindAgent: When Does an Agent Actually Pay Off?</dc:title>
  <dc:subject>PptxGenJS Presentation</dc:subject>
  <dc:creator>Suresh Kumar Tata</dc:creator>
  <cp:lastModifiedBy>Suresh Kumar Tata</cp:lastModifiedBy>
  <cp:revision>1</cp:revision>
  <dcterms:created xsi:type="dcterms:W3CDTF">2026-10-05T16:03:11Z</dcterms:created>
  <dcterms:modified xsi:type="dcterms:W3CDTF">2026-10-05T16:03:11Z</dcterms:modified>
</cp:coreProperties>
</file>